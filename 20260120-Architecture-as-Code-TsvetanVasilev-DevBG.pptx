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9" r:id="rId3"/>
    <p:sldId id="271" r:id="rId4"/>
    <p:sldId id="272" r:id="rId5"/>
    <p:sldId id="279" r:id="rId6"/>
    <p:sldId id="278" r:id="rId7"/>
    <p:sldId id="274" r:id="rId8"/>
    <p:sldId id="275" r:id="rId9"/>
    <p:sldId id="280" r:id="rId10"/>
    <p:sldId id="276" r:id="rId11"/>
    <p:sldId id="281" r:id="rId12"/>
    <p:sldId id="282" r:id="rId13"/>
    <p:sldId id="283" r:id="rId14"/>
    <p:sldId id="285" r:id="rId15"/>
    <p:sldId id="286" r:id="rId16"/>
    <p:sldId id="287" r:id="rId17"/>
    <p:sldId id="284" r:id="rId18"/>
    <p:sldId id="295" r:id="rId19"/>
    <p:sldId id="288" r:id="rId20"/>
    <p:sldId id="296" r:id="rId21"/>
    <p:sldId id="289" r:id="rId22"/>
    <p:sldId id="290" r:id="rId23"/>
    <p:sldId id="291" r:id="rId24"/>
    <p:sldId id="292" r:id="rId25"/>
    <p:sldId id="293" r:id="rId26"/>
    <p:sldId id="268" r:id="rId27"/>
    <p:sldId id="294" r:id="rId28"/>
  </p:sldIdLst>
  <p:sldSz cx="12192000" cy="68580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gK1UXVRGJfakr89WtsiQ1dHQHV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BFE4"/>
    <a:srgbClr val="8FAADC"/>
    <a:srgbClr val="7094D6"/>
    <a:srgbClr val="5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81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" name="Google Shape;2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750D366A-9740-8EAA-4C24-33686761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CE04B6A8-5B0E-6E2F-537E-160BEC8A0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B7AD3C75-C639-5301-9D1E-E03428268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139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CA70FBF0-2E18-98DB-6783-E34EA919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E8186741-CCD0-4007-9FCB-A87DDB6A0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Most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teams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unconsciously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treat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artifact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Requirements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go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diagrams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done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”.</a:t>
            </a:r>
          </a:p>
          <a:p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dangerously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misleading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stateful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transitions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over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driven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decisions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constraints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Key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emphasis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lvl="0"/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≠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snapshot</a:t>
            </a:r>
            <a:endParaRPr lang="bg-BG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evolving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bg-BG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bg-BG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states</a:t>
            </a: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98B9B0E1-6F4D-6807-0FDE-57AF5E8CA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172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810F4B79-6BCE-488D-67B4-16435062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E7FD5A76-398D-E5A5-5E6E-89214C8C6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Architecture does not start with boxes and arrows.</a:t>
            </a:r>
          </a:p>
          <a:p>
            <a:pPr marL="158750" indent="0">
              <a:buNone/>
            </a:pPr>
            <a:r>
              <a:rPr lang="en-US" dirty="0"/>
              <a:t>It starts with inputs:</a:t>
            </a:r>
          </a:p>
          <a:p>
            <a:pPr marL="158750" indent="0">
              <a:buNone/>
            </a:pPr>
            <a:r>
              <a:rPr lang="en-US" dirty="0"/>
              <a:t>•	functional requirements</a:t>
            </a:r>
          </a:p>
          <a:p>
            <a:pPr marL="158750" indent="0">
              <a:buNone/>
            </a:pPr>
            <a:r>
              <a:rPr lang="en-US" dirty="0"/>
              <a:t>•	non-functional requirements</a:t>
            </a:r>
          </a:p>
          <a:p>
            <a:pPr marL="158750" indent="0">
              <a:buNone/>
            </a:pPr>
            <a:r>
              <a:rPr lang="en-US" dirty="0"/>
              <a:t>•	constraints</a:t>
            </a:r>
          </a:p>
          <a:p>
            <a:pPr marL="158750" indent="0">
              <a:buNone/>
            </a:pPr>
            <a:r>
              <a:rPr lang="en-US" dirty="0"/>
              <a:t>•	organizational context</a:t>
            </a:r>
          </a:p>
          <a:p>
            <a:pPr marL="158750" indent="0">
              <a:buNone/>
            </a:pPr>
            <a:r>
              <a:rPr lang="en-US" dirty="0"/>
              <a:t>If these inputs are informal, undocumented, or implicit — architecture already begins to drift.</a:t>
            </a: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F112F3F9-EC5E-73EF-59CB-615C26E4A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1822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941C674C-E64E-9ACC-F594-3B34EFD1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5A2CC4EF-8991-890F-D04E-BC4C27C0B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Architecture produces more than diagrams.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Outputs include: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ADRs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C4 models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API contracts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infrastructure definitions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validation rules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The problem is not that we don’t create these —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the problem is that we don’t connect them.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Key idea: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outputs are fragmented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•	no single source of truth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A2C3B2AB-C64C-1A18-5DBA-9523FB12B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78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567AA48D-9696-4CDB-A670-47B18274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76E1AD47-AC02-DF25-1BDA-285F33067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2B764343-402B-272D-2627-CD698A0A9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3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C0FFE976-8212-3361-64FA-7AA2A561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E440FF5C-4B0F-FDE8-2F00-5CBE1B1FA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Traditional architecture fails because it is:</a:t>
            </a:r>
          </a:p>
          <a:p>
            <a:pPr marL="158750" indent="0">
              <a:buNone/>
            </a:pPr>
            <a:r>
              <a:rPr lang="en-US" dirty="0"/>
              <a:t>•	manual — diagrams and documents must be updated by hand</a:t>
            </a:r>
          </a:p>
          <a:p>
            <a:pPr marL="158750" indent="0">
              <a:buNone/>
            </a:pPr>
            <a:r>
              <a:rPr lang="en-US" dirty="0"/>
              <a:t>•	document-driven — architecture lives outside the delivery pipeline</a:t>
            </a:r>
          </a:p>
          <a:p>
            <a:pPr marL="158750" indent="0">
              <a:buNone/>
            </a:pPr>
            <a:r>
              <a:rPr lang="en-US" dirty="0"/>
              <a:t>•	disconnected from implementation — no automatic feedback</a:t>
            </a:r>
          </a:p>
          <a:p>
            <a:pPr marL="158750" indent="0">
              <a:buNone/>
            </a:pPr>
            <a:r>
              <a:rPr lang="en-US" dirty="0"/>
              <a:t>Diagrams age the moment code changes.</a:t>
            </a:r>
          </a:p>
          <a:p>
            <a:pPr marL="158750" indent="0">
              <a:buNone/>
            </a:pPr>
            <a:r>
              <a:rPr lang="en-US" dirty="0"/>
              <a:t>This creates a dangerous illusion:</a:t>
            </a:r>
          </a:p>
          <a:p>
            <a:pPr marL="158750" indent="0">
              <a:buNone/>
            </a:pPr>
            <a:r>
              <a:rPr lang="en-US" dirty="0"/>
              <a:t>“The architecture exists — therefore it is correct.”</a:t>
            </a:r>
          </a:p>
          <a:p>
            <a:pPr marL="158750" indent="0">
              <a:buNone/>
            </a:pPr>
            <a:r>
              <a:rPr lang="en-US" dirty="0"/>
              <a:t>This is the point where teams believe they have architectural control,</a:t>
            </a:r>
          </a:p>
          <a:p>
            <a:pPr marL="158750" indent="0">
              <a:buNone/>
            </a:pPr>
            <a:r>
              <a:rPr lang="en-US" dirty="0"/>
              <a:t>while in reality they only have historical documentation.</a:t>
            </a:r>
          </a:p>
          <a:p>
            <a:pPr marL="158750" indent="0">
              <a:buNone/>
            </a:pPr>
            <a:r>
              <a:rPr lang="en-US" dirty="0"/>
              <a:t>This is your emotional turning point slide.</a:t>
            </a: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5378BFAC-3318-7B15-4A27-C98A12170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141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CA63C6D5-4462-CE98-A9A4-35E5B13A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9DC246AB-FA7F-3F36-6F80-523951951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Architecture drift is not accidental.</a:t>
            </a:r>
          </a:p>
          <a:p>
            <a:pPr marL="158750" indent="0">
              <a:buNone/>
            </a:pPr>
            <a:r>
              <a:rPr lang="en-US" dirty="0"/>
              <a:t>It is the default outcome when:</a:t>
            </a:r>
          </a:p>
          <a:p>
            <a:pPr marL="158750" indent="0">
              <a:buNone/>
            </a:pPr>
            <a:r>
              <a:rPr lang="en-US" dirty="0"/>
              <a:t>•	architecture is optional</a:t>
            </a:r>
          </a:p>
          <a:p>
            <a:pPr marL="158750" indent="0">
              <a:buNone/>
            </a:pPr>
            <a:r>
              <a:rPr lang="en-US" dirty="0"/>
              <a:t>•	validation is manual</a:t>
            </a:r>
          </a:p>
          <a:p>
            <a:pPr marL="158750" indent="0">
              <a:buNone/>
            </a:pPr>
            <a:r>
              <a:rPr lang="en-US" dirty="0"/>
              <a:t>•	enforcement is social (“please follow the diagram”)</a:t>
            </a:r>
          </a:p>
          <a:p>
            <a:pPr marL="158750" indent="0">
              <a:buNone/>
            </a:pPr>
            <a:r>
              <a:rPr lang="en-US" dirty="0"/>
              <a:t>Drift is not a people problem.</a:t>
            </a:r>
          </a:p>
          <a:p>
            <a:pPr marL="158750" indent="0">
              <a:buNone/>
            </a:pPr>
            <a:r>
              <a:rPr lang="en-US" dirty="0"/>
              <a:t>It is a process problem.</a:t>
            </a:r>
          </a:p>
          <a:p>
            <a:pPr marL="158750" indent="0">
              <a:buNone/>
            </a:pPr>
            <a:r>
              <a:rPr lang="en-US" dirty="0"/>
              <a:t>If the system allows architecture to be violated silently,</a:t>
            </a:r>
          </a:p>
          <a:p>
            <a:pPr marL="158750" indent="0">
              <a:buNone/>
            </a:pPr>
            <a:r>
              <a:rPr lang="en-US" dirty="0"/>
              <a:t>it will be violated — especially under delivery pressure</a:t>
            </a:r>
          </a:p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53F92854-5421-5296-38D0-CD81167C4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7835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46270CE3-5955-6C2D-BAA8-0BFCC195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40212F65-353B-F62F-9425-6AA689808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Most teams unconsciously treat architecture as a static artifact.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Requirements go in → diagrams come out → architecture is “done”.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model is dangerously misleading.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 is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stateful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 transitions over time, driven by decisions, constraints, and feedback.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Key emphasis:</a:t>
            </a:r>
          </a:p>
          <a:p>
            <a:pPr lvl="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 ≠ snapshot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Architecture = evolving system of states</a:t>
            </a:r>
            <a:endParaRPr lang="en-US"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3E413221-354C-F604-78D0-A31C77830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4995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5FEFF036-61BD-0A81-8931-237C99A0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975D1C86-0765-2585-C7B6-F18D5ABF5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Instead of living in documents and meetings, architecture is:</a:t>
            </a:r>
          </a:p>
          <a:p>
            <a:pPr marL="158750" indent="0">
              <a:buNone/>
            </a:pPr>
            <a:r>
              <a:rPr lang="en-US" dirty="0"/>
              <a:t>•	encoded as code</a:t>
            </a:r>
          </a:p>
          <a:p>
            <a:pPr marL="158750" indent="0">
              <a:buNone/>
            </a:pPr>
            <a:r>
              <a:rPr lang="en-US" dirty="0"/>
              <a:t>•	version-controlled</a:t>
            </a:r>
          </a:p>
          <a:p>
            <a:pPr marL="158750" indent="0">
              <a:buNone/>
            </a:pPr>
            <a:r>
              <a:rPr lang="en-US" dirty="0"/>
              <a:t>•	validated automatically</a:t>
            </a:r>
          </a:p>
          <a:p>
            <a:pPr marL="158750" indent="0">
              <a:buNone/>
            </a:pPr>
            <a:r>
              <a:rPr lang="en-US" dirty="0"/>
              <a:t>•	executed inside CI/CD</a:t>
            </a:r>
          </a:p>
          <a:p>
            <a:pPr marL="158750" indent="0">
              <a:buNone/>
            </a:pPr>
            <a:r>
              <a:rPr lang="en-US" dirty="0"/>
              <a:t>This means:</a:t>
            </a:r>
          </a:p>
          <a:p>
            <a:pPr marL="158750" indent="0">
              <a:buNone/>
            </a:pPr>
            <a:r>
              <a:rPr lang="en-US" dirty="0"/>
              <a:t>•	architectural decisions are explicit</a:t>
            </a:r>
          </a:p>
          <a:p>
            <a:pPr marL="158750" indent="0">
              <a:buNone/>
            </a:pPr>
            <a:r>
              <a:rPr lang="en-US" dirty="0"/>
              <a:t>•	violations are detectable</a:t>
            </a:r>
          </a:p>
          <a:p>
            <a:pPr marL="158750" indent="0">
              <a:buNone/>
            </a:pPr>
            <a:r>
              <a:rPr lang="en-US" dirty="0"/>
              <a:t>•	change is intentional, not accidental</a:t>
            </a:r>
          </a:p>
          <a:p>
            <a:pPr marL="158750" indent="0">
              <a:buNone/>
            </a:pPr>
            <a:r>
              <a:rPr lang="en-US" dirty="0"/>
              <a:t>Architecture becomes part of the same lifecycle as software.</a:t>
            </a: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1EB4FF5C-57AA-D8B0-9F8C-BDA730DF8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3729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279DC384-C383-1BB1-F4A5-3DF4A0ED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3CA8CD94-662A-5ABA-C089-2A3FE4F8F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Architecture does not happen once.</a:t>
            </a:r>
          </a:p>
          <a:p>
            <a:pPr marL="158750" indent="0">
              <a:buNone/>
            </a:pPr>
            <a:r>
              <a:rPr lang="en-US" dirty="0"/>
              <a:t>It evolves every sprint — whether you control it or not.</a:t>
            </a:r>
          </a:p>
          <a:p>
            <a:pPr marL="158750" indent="0">
              <a:buNone/>
            </a:pPr>
            <a:r>
              <a:rPr lang="en-US" dirty="0"/>
              <a:t>If architecture is not explicitly iterative,</a:t>
            </a:r>
          </a:p>
          <a:p>
            <a:pPr marL="158750" indent="0">
              <a:buNone/>
            </a:pPr>
            <a:r>
              <a:rPr lang="en-US" dirty="0"/>
              <a:t>then change happens implicitly — and invisibly.</a:t>
            </a: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24D8B2E1-3F80-90AB-2506-25534DB006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1532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4CE0863F-2298-CF40-E7B6-DDD7C69E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D2233EE6-C599-5B2C-2807-F45C52884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AC7C9077-572D-37CA-7B43-842466EFC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019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A6E2A237-13BE-9EE8-4CC1-88A51BD2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E72AB871-6F16-DAD9-6BA4-57ACD44D8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This slide shows architecture as a continuous lifecycle, not a phase.</a:t>
            </a:r>
          </a:p>
          <a:p>
            <a:pPr marL="158750" indent="0">
              <a:buNone/>
            </a:pPr>
            <a:r>
              <a:rPr lang="en-US" dirty="0"/>
              <a:t>- Requirements &amp; Context → define drivers and constraints</a:t>
            </a:r>
          </a:p>
          <a:p>
            <a:pPr marL="158750" indent="0">
              <a:buNone/>
            </a:pPr>
            <a:r>
              <a:rPr lang="en-US" dirty="0"/>
              <a:t>- Design → express decisions and structure</a:t>
            </a:r>
          </a:p>
          <a:p>
            <a:pPr marL="158750" indent="0">
              <a:buNone/>
            </a:pPr>
            <a:r>
              <a:rPr lang="en-US" dirty="0"/>
              <a:t>- Validation → check rules and assumptions</a:t>
            </a:r>
          </a:p>
          <a:p>
            <a:pPr marL="158750" indent="0">
              <a:buNone/>
            </a:pPr>
            <a:r>
              <a:rPr lang="en-US" dirty="0"/>
              <a:t>- Infrastructure → realize architecture in the cloud</a:t>
            </a:r>
          </a:p>
          <a:p>
            <a:pPr marL="158750" indent="0">
              <a:buNone/>
            </a:pPr>
            <a:r>
              <a:rPr lang="en-US" dirty="0"/>
              <a:t>- Documentation Integration → keep knowledge synchronized</a:t>
            </a: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C64D2643-D233-B367-E4CE-55680A119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5854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14C2F3F7-67E2-161E-0469-D697104B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748BC275-6391-A635-03BA-25FFE9922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9BAD4823-37BD-2A56-A465-024BA65A8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6081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EB1DAA5D-3846-E3BE-B2D2-FEAD77BF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753F9553-3D82-6F5C-140C-224D3B188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8A3997EF-63FC-88D6-7117-090FBD607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1987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8E1DE489-6DD9-ACB3-56EA-397DF15D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C26E4754-2EC7-E3E7-CC1C-5B823DEEA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873187E9-AF87-28BE-A681-AD4862B94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4164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9B425E8C-57DE-3DFB-F003-48BD7769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7B4CA8FC-E707-9E95-86B6-4C51E90FF6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30874353-E595-5AEC-16D2-842D7D6B9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6737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1B80629C-E495-E919-E894-154F0AD7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:notes">
            <a:extLst>
              <a:ext uri="{FF2B5EF4-FFF2-40B4-BE49-F238E27FC236}">
                <a16:creationId xmlns:a16="http://schemas.microsoft.com/office/drawing/2014/main" id="{DD80898D-369B-57D5-4C88-DFF3E67B2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p3:notes">
            <a:extLst>
              <a:ext uri="{FF2B5EF4-FFF2-40B4-BE49-F238E27FC236}">
                <a16:creationId xmlns:a16="http://schemas.microsoft.com/office/drawing/2014/main" id="{8BB5CFB7-0E52-F0D9-CBB9-D4F9B17279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208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EF76676B-CB21-14CB-3DB6-22532C8F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CACA088D-15C6-95AC-2EE2-6DFBD619B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8F3968DA-CCB3-99D0-BD3E-9D1E49862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7305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8A59B75F-9315-8D86-A00F-2BAFD2EB3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E5BE5239-E500-72F9-000F-92267ACF2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C62844FA-865A-4C94-F756-1A257A73B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7162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99ADF9AD-4C43-597F-03CC-FEE7D57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45382C67-0C97-734D-25F5-D214EEF47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Architecture-as-Code provides concrete benefits:</a:t>
            </a:r>
          </a:p>
          <a:p>
            <a:r>
              <a:rPr lang="en-US" b="1" dirty="0"/>
              <a:t>Traceability</a:t>
            </a:r>
            <a:r>
              <a:rPr lang="en-US" dirty="0"/>
              <a:t> — decisions are linked to code and infra</a:t>
            </a:r>
          </a:p>
          <a:p>
            <a:r>
              <a:rPr lang="en-US" b="1" dirty="0"/>
              <a:t>Automation</a:t>
            </a:r>
            <a:r>
              <a:rPr lang="en-US" dirty="0"/>
              <a:t> — less manual policing</a:t>
            </a:r>
          </a:p>
          <a:p>
            <a:r>
              <a:rPr lang="en-US" b="1" dirty="0"/>
              <a:t>Consistency</a:t>
            </a:r>
            <a:r>
              <a:rPr lang="en-US" dirty="0"/>
              <a:t> — fewer accidental divergences</a:t>
            </a:r>
          </a:p>
          <a:p>
            <a:r>
              <a:rPr lang="en-US" b="1" dirty="0"/>
              <a:t>Faster delivery</a:t>
            </a:r>
            <a:r>
              <a:rPr lang="en-US" dirty="0"/>
              <a:t> — fewer late architectural surprises</a:t>
            </a:r>
          </a:p>
          <a:p>
            <a:pPr marL="158750" indent="0">
              <a:buNone/>
            </a:pPr>
            <a:r>
              <a:rPr lang="en-US" dirty="0"/>
              <a:t>These benefits compound over time. The larger and longer-lived the system, the higher the return.</a:t>
            </a:r>
          </a:p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2860760B-663E-8C26-A584-CDB0AA65D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7606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5C87F7D1-4F33-3B53-5E75-6E21336F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37DB854D-AD2F-BD7D-D063-27C641029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Architecture-as-Code is not free.</a:t>
            </a:r>
          </a:p>
          <a:p>
            <a:pPr marL="158750" indent="0">
              <a:buNone/>
            </a:pPr>
            <a:r>
              <a:rPr lang="en-US" dirty="0"/>
              <a:t>It introduces:</a:t>
            </a:r>
          </a:p>
          <a:p>
            <a:pPr marL="158750" indent="0">
              <a:buNone/>
            </a:pPr>
            <a:r>
              <a:rPr lang="en-US" dirty="0"/>
              <a:t>•	upfront thinking</a:t>
            </a:r>
          </a:p>
          <a:p>
            <a:pPr marL="158750" indent="0">
              <a:buNone/>
            </a:pPr>
            <a:r>
              <a:rPr lang="en-US" dirty="0"/>
              <a:t>•	stricter discipline</a:t>
            </a:r>
          </a:p>
          <a:p>
            <a:pPr marL="158750" indent="0">
              <a:buNone/>
            </a:pPr>
            <a:r>
              <a:rPr lang="en-US" dirty="0"/>
              <a:t>•	tooling investment</a:t>
            </a:r>
          </a:p>
          <a:p>
            <a:pPr marL="158750" indent="0">
              <a:buNone/>
            </a:pPr>
            <a:r>
              <a:rPr lang="en-US" dirty="0"/>
              <a:t>But the cost of not doing it</a:t>
            </a:r>
          </a:p>
          <a:p>
            <a:pPr marL="158750" indent="0">
              <a:buNone/>
            </a:pPr>
            <a:r>
              <a:rPr lang="en-US" dirty="0"/>
              <a:t>is architectural entropy.</a:t>
            </a:r>
          </a:p>
          <a:p>
            <a:pPr marL="158750" indent="0">
              <a:buNone/>
            </a:pPr>
            <a:r>
              <a:rPr lang="en-US" dirty="0"/>
              <a:t>Balanced, credible, honest.</a:t>
            </a:r>
          </a:p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728451FE-2318-FB22-87A2-341F7FFBC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9660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3D27E15B-96AA-AA69-B2B2-090F7268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F0CED43D-EF5A-ABC8-CBE2-E0AA78D96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Architecture-as-Code:</a:t>
            </a:r>
          </a:p>
          <a:p>
            <a:pPr marL="158750" indent="0">
              <a:buNone/>
            </a:pPr>
            <a:r>
              <a:rPr lang="en-US" dirty="0"/>
              <a:t>•	reduces drift</a:t>
            </a:r>
          </a:p>
          <a:p>
            <a:pPr marL="158750" indent="0">
              <a:buNone/>
            </a:pPr>
            <a:r>
              <a:rPr lang="en-US" dirty="0"/>
              <a:t>•	improves alignment</a:t>
            </a:r>
          </a:p>
          <a:p>
            <a:pPr marL="158750" indent="0">
              <a:buNone/>
            </a:pPr>
            <a:r>
              <a:rPr lang="en-US" dirty="0"/>
              <a:t>•	enables validation</a:t>
            </a:r>
          </a:p>
          <a:p>
            <a:pPr marL="158750" indent="0">
              <a:buNone/>
            </a:pPr>
            <a:r>
              <a:rPr lang="en-US" dirty="0"/>
              <a:t>•	scales better than documents</a:t>
            </a:r>
          </a:p>
          <a:p>
            <a:pPr marL="158750" indent="0">
              <a:buNone/>
            </a:pPr>
            <a:r>
              <a:rPr lang="en-US" dirty="0"/>
              <a:t>It does not replace architects — it amplifies them.</a:t>
            </a:r>
          </a:p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FA49543B-3C72-D373-1836-62A3E1A5B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4422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5674B4B5-32C3-1EFB-7376-8EDAC85A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0DFA0905-5266-0BC7-7615-3AABE8C68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13CE6BED-E9AF-C7ED-8D0D-3B1967E1F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48586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D773E5DB-38A8-5D69-7318-5F3FB123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93B98C84-5A91-0AB0-51A0-AD31731DE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1B323A76-4E59-DAC5-7BD3-6660660E8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6958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d5d6240d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8" name="Google Shape;328;g2dd5d6240d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020CA4E6-D14E-26C7-ADD7-4C95AF914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5d6240d7_0_116:notes">
            <a:extLst>
              <a:ext uri="{FF2B5EF4-FFF2-40B4-BE49-F238E27FC236}">
                <a16:creationId xmlns:a16="http://schemas.microsoft.com/office/drawing/2014/main" id="{7F9F5151-E2FA-E900-318C-8BE89873F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39" name="Google Shape;239;g2dd5d6240d7_0_116:notes">
            <a:extLst>
              <a:ext uri="{FF2B5EF4-FFF2-40B4-BE49-F238E27FC236}">
                <a16:creationId xmlns:a16="http://schemas.microsoft.com/office/drawing/2014/main" id="{221EB634-4B5E-5613-1CDD-7AB4065FC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522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Slide">
  <p:cSld name="Headlin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6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6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9" name="Google Shape;9;p6"/>
          <p:cNvSpPr txBox="1"/>
          <p:nvPr/>
        </p:nvSpPr>
        <p:spPr>
          <a:xfrm>
            <a:off x="1354138" y="3035656"/>
            <a:ext cx="948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10;p6"/>
          <p:cNvSpPr txBox="1"/>
          <p:nvPr/>
        </p:nvSpPr>
        <p:spPr>
          <a:xfrm>
            <a:off x="1354138" y="4341762"/>
            <a:ext cx="9483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6"/>
          <p:cNvSpPr txBox="1"/>
          <p:nvPr/>
        </p:nvSpPr>
        <p:spPr>
          <a:xfrm>
            <a:off x="3189344" y="1823307"/>
            <a:ext cx="315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12;p6"/>
          <p:cNvSpPr txBox="1"/>
          <p:nvPr/>
        </p:nvSpPr>
        <p:spPr>
          <a:xfrm>
            <a:off x="3189396" y="2145049"/>
            <a:ext cx="3873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 txBox="1">
            <a:spLocks noGrp="1"/>
          </p:cNvSpPr>
          <p:nvPr>
            <p:ph type="body" idx="1"/>
          </p:nvPr>
        </p:nvSpPr>
        <p:spPr>
          <a:xfrm>
            <a:off x="1354138" y="3035656"/>
            <a:ext cx="948372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2"/>
          </p:nvPr>
        </p:nvSpPr>
        <p:spPr>
          <a:xfrm>
            <a:off x="1354138" y="4341762"/>
            <a:ext cx="94837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None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3"/>
          </p:nvPr>
        </p:nvSpPr>
        <p:spPr>
          <a:xfrm>
            <a:off x="3189344" y="1823307"/>
            <a:ext cx="3154362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4"/>
          </p:nvPr>
        </p:nvSpPr>
        <p:spPr>
          <a:xfrm>
            <a:off x="3189396" y="2145049"/>
            <a:ext cx="3873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000"/>
              <a:buFont typeface="Montserrat"/>
              <a:buNone/>
              <a:defRPr sz="1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>
            <a:spLocks noGrp="1"/>
          </p:cNvSpPr>
          <p:nvPr>
            <p:ph type="pic" idx="5"/>
          </p:nvPr>
        </p:nvSpPr>
        <p:spPr>
          <a:xfrm>
            <a:off x="1382703" y="1344842"/>
            <a:ext cx="1488000" cy="1415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6"/>
          <p:cNvSpPr txBox="1"/>
          <p:nvPr/>
        </p:nvSpPr>
        <p:spPr>
          <a:xfrm>
            <a:off x="6361363" y="6286875"/>
            <a:ext cx="5049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IT Management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" name="Google Shape;2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6463" y="668325"/>
            <a:ext cx="371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/>
          <p:nvPr/>
        </p:nvSpPr>
        <p:spPr>
          <a:xfrm>
            <a:off x="190575" y="6261600"/>
            <a:ext cx="993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100"/>
              <a:t>и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0800" y="6156905"/>
            <a:ext cx="844225" cy="52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8025" y="6215275"/>
            <a:ext cx="934450" cy="5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6" title="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4650" y="6339175"/>
            <a:ext cx="1488000" cy="2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2">
  <p:cSld name="Slide with photo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d5d6240d7_1_280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2dd5d6240d7_1_280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78" name="Google Shape;78;g2dd5d6240d7_1_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dd5d6240d7_1_280"/>
          <p:cNvSpPr/>
          <p:nvPr/>
        </p:nvSpPr>
        <p:spPr>
          <a:xfrm>
            <a:off x="520200" y="984728"/>
            <a:ext cx="11119200" cy="4804500"/>
          </a:xfrm>
          <a:prstGeom prst="roundRect">
            <a:avLst>
              <a:gd name="adj" fmla="val 2244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2dd5d6240d7_1_280"/>
          <p:cNvSpPr txBox="1"/>
          <p:nvPr/>
        </p:nvSpPr>
        <p:spPr>
          <a:xfrm>
            <a:off x="6361363" y="6286875"/>
            <a:ext cx="5049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IT Management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g2dd5d6240d7_1_2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2dd5d6240d7_1_2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370" y="440361"/>
            <a:ext cx="371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dd5d6240d7_1_280"/>
          <p:cNvSpPr txBox="1"/>
          <p:nvPr/>
        </p:nvSpPr>
        <p:spPr>
          <a:xfrm>
            <a:off x="190575" y="6261600"/>
            <a:ext cx="993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100"/>
              <a:t>и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2dd5d6240d7_1_28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0800" y="6156905"/>
            <a:ext cx="844225" cy="52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2dd5d6240d7_1_2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8025" y="6215275"/>
            <a:ext cx="934450" cy="5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2dd5d6240d7_1_280" title="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4650" y="6339175"/>
            <a:ext cx="1488000" cy="2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out photo">
  <p:cSld name="Slide without photo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>
            <a:spLocks noGrp="1"/>
          </p:cNvSpPr>
          <p:nvPr>
            <p:ph type="body" idx="1"/>
          </p:nvPr>
        </p:nvSpPr>
        <p:spPr>
          <a:xfrm>
            <a:off x="1360557" y="1459724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3" name="Google Shape;163;p8"/>
          <p:cNvSpPr txBox="1">
            <a:spLocks noGrp="1"/>
          </p:cNvSpPr>
          <p:nvPr>
            <p:ph type="body" idx="2"/>
          </p:nvPr>
        </p:nvSpPr>
        <p:spPr>
          <a:xfrm>
            <a:off x="1354139" y="4042172"/>
            <a:ext cx="37719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6361363" y="6286875"/>
            <a:ext cx="5049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IT Management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6463" y="668325"/>
            <a:ext cx="371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90575" y="6261600"/>
            <a:ext cx="993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100"/>
              <a:t>и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0800" y="6156905"/>
            <a:ext cx="844225" cy="52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8025" y="6215275"/>
            <a:ext cx="934450" cy="5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 title="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4650" y="6339175"/>
            <a:ext cx="1488000" cy="2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 1">
  <p:cSld name="Thank you slide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d5d6240d7_1_173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2dd5d6240d7_1_173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199" name="Google Shape;199;g2dd5d6240d7_1_173"/>
          <p:cNvSpPr txBox="1"/>
          <p:nvPr/>
        </p:nvSpPr>
        <p:spPr>
          <a:xfrm>
            <a:off x="1049235" y="819254"/>
            <a:ext cx="337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0" name="Google Shape;200;g2dd5d6240d7_1_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92731"/>
            <a:ext cx="12191998" cy="260753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2dd5d6240d7_1_173"/>
          <p:cNvSpPr txBox="1"/>
          <p:nvPr/>
        </p:nvSpPr>
        <p:spPr>
          <a:xfrm>
            <a:off x="6361363" y="6286875"/>
            <a:ext cx="5049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IT Management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g2dd5d6240d7_1_1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dd5d6240d7_1_173"/>
          <p:cNvSpPr txBox="1"/>
          <p:nvPr/>
        </p:nvSpPr>
        <p:spPr>
          <a:xfrm>
            <a:off x="190575" y="6261600"/>
            <a:ext cx="993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100"/>
              <a:t>и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2dd5d6240d7_1_1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0800" y="6156905"/>
            <a:ext cx="844225" cy="52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dd5d6240d7_1_1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8025" y="6215275"/>
            <a:ext cx="934450" cy="5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dd5d6240d7_1_173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4650" y="6339175"/>
            <a:ext cx="1488000" cy="2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9" r:id="rId3"/>
    <p:sldLayoutId id="214748366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4model.com/diagrams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svetanv/order-system-infrastructure" TargetMode="External"/><Relationship Id="rId3" Type="http://schemas.openxmlformats.org/officeDocument/2006/relationships/hyperlink" Target="https://simonbrown.je/" TargetMode="External"/><Relationship Id="rId7" Type="http://schemas.openxmlformats.org/officeDocument/2006/relationships/hyperlink" Target="https://github.com/tsvetanv/order-system-service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svetanv/order-system-architecture" TargetMode="External"/><Relationship Id="rId5" Type="http://schemas.openxmlformats.org/officeDocument/2006/relationships/hyperlink" Target="https://github.com/users/tsvetanv/projects/4" TargetMode="External"/><Relationship Id="rId4" Type="http://schemas.openxmlformats.org/officeDocument/2006/relationships/hyperlink" Target="https://www.researchgate.net/publication/394538438_Architecture_as_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/>
          <p:cNvSpPr txBox="1">
            <a:spLocks noGrp="1"/>
          </p:cNvSpPr>
          <p:nvPr>
            <p:ph type="body" idx="2"/>
          </p:nvPr>
        </p:nvSpPr>
        <p:spPr>
          <a:xfrm>
            <a:off x="1354138" y="4341762"/>
            <a:ext cx="94837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4F4F4F"/>
              </a:buClr>
            </a:pPr>
            <a:r>
              <a:rPr lang="en-US" b="1" dirty="0"/>
              <a:t>Automate Your Software Architecture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1800"/>
              <a:buNone/>
            </a:pPr>
            <a:endParaRPr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1CA93415-183E-24CC-79ED-36E1B6D7C7FD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3"/>
          <a:srcRect t="4144" b="4144"/>
          <a:stretch>
            <a:fillRect/>
          </a:stretch>
        </p:blipFill>
        <p:spPr>
          <a:xfrm>
            <a:off x="1382713" y="960438"/>
            <a:ext cx="1487487" cy="141605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3" name="Google Shape;213;p1"/>
          <p:cNvSpPr txBox="1">
            <a:spLocks noGrp="1"/>
          </p:cNvSpPr>
          <p:nvPr>
            <p:ph type="body" idx="2"/>
          </p:nvPr>
        </p:nvSpPr>
        <p:spPr>
          <a:xfrm>
            <a:off x="1382701" y="2532688"/>
            <a:ext cx="4334607" cy="51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1800"/>
              <a:buNone/>
            </a:pPr>
            <a:r>
              <a:rPr lang="en-US" b="1" dirty="0"/>
              <a:t>Tsvetan Vasilev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1800"/>
              <a:buNone/>
            </a:pPr>
            <a:r>
              <a:rPr lang="en-US" dirty="0">
                <a:solidFill>
                  <a:schemeClr val="lt1"/>
                </a:solidFill>
              </a:rPr>
              <a:t>Software Architect / Bosch Digital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14" name="Google Shape;214;p1"/>
          <p:cNvSpPr txBox="1">
            <a:spLocks noGrp="1"/>
          </p:cNvSpPr>
          <p:nvPr>
            <p:ph type="body" idx="1"/>
          </p:nvPr>
        </p:nvSpPr>
        <p:spPr>
          <a:xfrm>
            <a:off x="1354138" y="3576954"/>
            <a:ext cx="948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000"/>
              <a:buFont typeface="Arial"/>
              <a:buNone/>
            </a:pPr>
            <a:r>
              <a:rPr lang="en-US" dirty="0"/>
              <a:t>Architecture as Code (</a:t>
            </a:r>
            <a:r>
              <a:rPr lang="en-US" dirty="0" err="1"/>
              <a:t>AaC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" name="Google Shape;211;p1">
            <a:extLst>
              <a:ext uri="{FF2B5EF4-FFF2-40B4-BE49-F238E27FC236}">
                <a16:creationId xmlns:a16="http://schemas.microsoft.com/office/drawing/2014/main" id="{6D10761E-DEF7-ADDD-111B-478FC3950E10}"/>
              </a:ext>
            </a:extLst>
          </p:cNvPr>
          <p:cNvSpPr txBox="1">
            <a:spLocks/>
          </p:cNvSpPr>
          <p:nvPr/>
        </p:nvSpPr>
        <p:spPr>
          <a:xfrm>
            <a:off x="1354138" y="5361909"/>
            <a:ext cx="1487499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None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Bef>
                <a:spcPts val="0"/>
              </a:spcBef>
              <a:buClr>
                <a:srgbClr val="4F4F4F"/>
              </a:buClr>
            </a:pPr>
            <a:r>
              <a:rPr lang="en-US" b="1" dirty="0">
                <a:solidFill>
                  <a:schemeClr val="bg1"/>
                </a:solidFill>
              </a:rPr>
              <a:t>20.01.2026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450BEA80-E405-088A-32D5-85E8E980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0292F178-E2A5-DD46-7924-0C0BE2A5A83A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37E36-7522-7F5B-5825-25A52587BD53}"/>
              </a:ext>
            </a:extLst>
          </p:cNvPr>
          <p:cNvSpPr txBox="1"/>
          <p:nvPr/>
        </p:nvSpPr>
        <p:spPr>
          <a:xfrm>
            <a:off x="1856509" y="2071254"/>
            <a:ext cx="55787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Why traditional architecture breaks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What Architecture-as-Code really means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How it works in practice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Trade-offs, costs, and when it makes sense</a:t>
            </a: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311738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2B9003AB-EA30-8B05-5E79-E0882A33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52EA559A-8F5F-DFDF-A2CF-D5C101579568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437091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The </a:t>
            </a:r>
            <a:r>
              <a:rPr lang="en-US" sz="2500" b="1" dirty="0">
                <a:solidFill>
                  <a:schemeClr val="lt1"/>
                </a:solidFill>
                <a:latin typeface="Montserrat"/>
              </a:rPr>
              <a:t>Traditional</a:t>
            </a: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 Way: Architecture as a Finite-State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CD5E2-B338-87E6-7619-27E3EF8F17FD}"/>
              </a:ext>
            </a:extLst>
          </p:cNvPr>
          <p:cNvSpPr txBox="1"/>
          <p:nvPr/>
        </p:nvSpPr>
        <p:spPr>
          <a:xfrm>
            <a:off x="1856509" y="2071254"/>
            <a:ext cx="5578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 err="1"/>
              <a:t>Most</a:t>
            </a:r>
            <a:r>
              <a:rPr lang="bg-BG" dirty="0"/>
              <a:t> </a:t>
            </a:r>
            <a:r>
              <a:rPr lang="bg-BG" dirty="0" err="1"/>
              <a:t>teams</a:t>
            </a:r>
            <a:r>
              <a:rPr lang="bg-BG" dirty="0"/>
              <a:t> </a:t>
            </a:r>
            <a:r>
              <a:rPr lang="bg-BG" dirty="0" err="1"/>
              <a:t>unconsciously</a:t>
            </a:r>
            <a:r>
              <a:rPr lang="bg-BG" dirty="0"/>
              <a:t> </a:t>
            </a:r>
            <a:r>
              <a:rPr lang="bg-BG" dirty="0" err="1"/>
              <a:t>treat</a:t>
            </a:r>
            <a:r>
              <a:rPr lang="bg-BG" dirty="0"/>
              <a:t> </a:t>
            </a:r>
            <a:r>
              <a:rPr lang="bg-BG" dirty="0" err="1"/>
              <a:t>architecture</a:t>
            </a:r>
            <a:r>
              <a:rPr lang="bg-BG" dirty="0"/>
              <a:t> </a:t>
            </a:r>
            <a:r>
              <a:rPr lang="bg-BG" dirty="0" err="1"/>
              <a:t>as</a:t>
            </a:r>
            <a:r>
              <a:rPr lang="bg-BG" dirty="0"/>
              <a:t> a </a:t>
            </a:r>
            <a:r>
              <a:rPr lang="bg-BG" dirty="0" err="1"/>
              <a:t>static</a:t>
            </a:r>
            <a:r>
              <a:rPr lang="bg-BG" dirty="0"/>
              <a:t> </a:t>
            </a:r>
            <a:r>
              <a:rPr lang="bg-BG" dirty="0" err="1"/>
              <a:t>artifact</a:t>
            </a:r>
            <a:endParaRPr lang="bg-BG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F7BCCA-F29F-23BB-8D3D-FD97634345BC}"/>
              </a:ext>
            </a:extLst>
          </p:cNvPr>
          <p:cNvSpPr/>
          <p:nvPr/>
        </p:nvSpPr>
        <p:spPr>
          <a:xfrm>
            <a:off x="2034687" y="3181350"/>
            <a:ext cx="1876425" cy="8191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AFA824-3BEA-A1E4-4B2B-8127CC97A192}"/>
              </a:ext>
            </a:extLst>
          </p:cNvPr>
          <p:cNvSpPr/>
          <p:nvPr/>
        </p:nvSpPr>
        <p:spPr>
          <a:xfrm>
            <a:off x="5024071" y="3181350"/>
            <a:ext cx="1876425" cy="819150"/>
          </a:xfrm>
          <a:prstGeom prst="roundRect">
            <a:avLst/>
          </a:prstGeom>
          <a:solidFill>
            <a:srgbClr val="AABF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Architecture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4347E6-B7D3-5E50-59F9-DF9FF010D51E}"/>
              </a:ext>
            </a:extLst>
          </p:cNvPr>
          <p:cNvSpPr/>
          <p:nvPr/>
        </p:nvSpPr>
        <p:spPr>
          <a:xfrm>
            <a:off x="8095517" y="3181350"/>
            <a:ext cx="1876425" cy="8191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  <a:endParaRPr lang="bg-BG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D76840-8DC0-46D5-351B-0E72EE45671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11112" y="3590925"/>
            <a:ext cx="1112959" cy="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359806-5AC2-7966-311C-1BC307AA11C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6900496" y="3590925"/>
            <a:ext cx="1195021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D103A3-F751-EEDF-33A0-B7588A5C70C4}"/>
              </a:ext>
            </a:extLst>
          </p:cNvPr>
          <p:cNvSpPr txBox="1"/>
          <p:nvPr/>
        </p:nvSpPr>
        <p:spPr>
          <a:xfrm>
            <a:off x="1856508" y="4811234"/>
            <a:ext cx="6428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Requirements go in → diagrams come out → architecture is “done”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9751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C7F54DA3-0D60-23F5-F7A8-F21FB7ED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4360851-607B-E2A5-75AA-053602189C57}"/>
              </a:ext>
            </a:extLst>
          </p:cNvPr>
          <p:cNvSpPr txBox="1">
            <a:spLocks/>
          </p:cNvSpPr>
          <p:nvPr/>
        </p:nvSpPr>
        <p:spPr>
          <a:xfrm>
            <a:off x="1348510" y="351389"/>
            <a:ext cx="10104582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Inputs to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DBC1D-57CC-7F21-03F3-9368AF3F5C1A}"/>
              </a:ext>
            </a:extLst>
          </p:cNvPr>
          <p:cNvSpPr txBox="1"/>
          <p:nvPr/>
        </p:nvSpPr>
        <p:spPr>
          <a:xfrm>
            <a:off x="1856509" y="2071254"/>
            <a:ext cx="557876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Functional requirements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Non-functional (quality) requirements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Business Goals &amp; Constraints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Constraints and governance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Stakeholders, risks, domain context</a:t>
            </a:r>
            <a:endParaRPr lang="bg-BG" sz="16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849AB9-62BC-EA43-1330-8B6E1998E40A}"/>
              </a:ext>
            </a:extLst>
          </p:cNvPr>
          <p:cNvSpPr/>
          <p:nvPr/>
        </p:nvSpPr>
        <p:spPr>
          <a:xfrm>
            <a:off x="6493868" y="2091457"/>
            <a:ext cx="1331610" cy="8191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Analysis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6881AC-8931-0196-85DA-6B641091865E}"/>
              </a:ext>
            </a:extLst>
          </p:cNvPr>
          <p:cNvSpPr/>
          <p:nvPr/>
        </p:nvSpPr>
        <p:spPr>
          <a:xfrm>
            <a:off x="7774326" y="3947394"/>
            <a:ext cx="2214323" cy="819150"/>
          </a:xfrm>
          <a:prstGeom prst="roundRect">
            <a:avLst/>
          </a:prstGeom>
          <a:solidFill>
            <a:srgbClr val="AABF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Architecture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04EB2B-12F7-0465-B530-2E04335B1928}"/>
              </a:ext>
            </a:extLst>
          </p:cNvPr>
          <p:cNvSpPr/>
          <p:nvPr/>
        </p:nvSpPr>
        <p:spPr>
          <a:xfrm>
            <a:off x="8215683" y="2091457"/>
            <a:ext cx="1331610" cy="8191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Stakeholders Workshop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A7F8A6-37F3-BC4A-C504-8E4DF93682BC}"/>
              </a:ext>
            </a:extLst>
          </p:cNvPr>
          <p:cNvSpPr/>
          <p:nvPr/>
        </p:nvSpPr>
        <p:spPr>
          <a:xfrm>
            <a:off x="10039801" y="2071254"/>
            <a:ext cx="1331610" cy="8191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Regulations</a:t>
            </a:r>
            <a:endParaRPr lang="bg-BG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31D96E-F981-F88F-81C2-CBA98822E56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159673" y="2910607"/>
            <a:ext cx="1215842" cy="1036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7600D1-E0F8-D86A-BC1B-44EEA66C25A7}"/>
              </a:ext>
            </a:extLst>
          </p:cNvPr>
          <p:cNvCxnSpPr>
            <a:stCxn id="12" idx="2"/>
            <a:endCxn id="4" idx="0"/>
          </p:cNvCxnSpPr>
          <p:nvPr/>
        </p:nvCxnSpPr>
        <p:spPr>
          <a:xfrm>
            <a:off x="8881488" y="2910607"/>
            <a:ext cx="0" cy="1036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E9422B-B5FF-24CB-A138-0237DCF0E0CB}"/>
              </a:ext>
            </a:extLst>
          </p:cNvPr>
          <p:cNvCxnSpPr>
            <a:stCxn id="16" idx="2"/>
          </p:cNvCxnSpPr>
          <p:nvPr/>
        </p:nvCxnSpPr>
        <p:spPr>
          <a:xfrm flipH="1">
            <a:off x="9547293" y="2890404"/>
            <a:ext cx="1158313" cy="1056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85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A0FEDF1B-6BC3-ED1C-96B0-E7D12B4F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8091D931-67E2-0D9C-9EDA-5918FFD16EF4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Output to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F5FB0-693C-33F1-D93E-1F0647ECC803}"/>
              </a:ext>
            </a:extLst>
          </p:cNvPr>
          <p:cNvSpPr txBox="1"/>
          <p:nvPr/>
        </p:nvSpPr>
        <p:spPr>
          <a:xfrm>
            <a:off x="1856509" y="2071254"/>
            <a:ext cx="55787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Architecture decision record (ADRs)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Diagrams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API contracts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Infrastructure architecture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Validation rules</a:t>
            </a: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64208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BB3722E1-71B6-6462-21EF-2C938A27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C574DAA0-3D78-872F-237C-4E1FB3CC7D0A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437091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The </a:t>
            </a:r>
            <a:r>
              <a:rPr lang="en-US" sz="2500" b="1" dirty="0">
                <a:solidFill>
                  <a:schemeClr val="lt1"/>
                </a:solidFill>
                <a:latin typeface="Montserrat"/>
              </a:rPr>
              <a:t>Traditional</a:t>
            </a: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 Way (Summary)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7BD2B0-AC7E-C5A5-51D6-1F8CED997DBA}"/>
              </a:ext>
            </a:extLst>
          </p:cNvPr>
          <p:cNvSpPr/>
          <p:nvPr/>
        </p:nvSpPr>
        <p:spPr>
          <a:xfrm>
            <a:off x="933061" y="2375807"/>
            <a:ext cx="2968720" cy="21063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requirements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Non-functional requirements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Business Rules &amp; Constraints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Governance Rules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1FD1E2-BF76-F2C0-8112-D4DDA327AFA2}"/>
              </a:ext>
            </a:extLst>
          </p:cNvPr>
          <p:cNvSpPr/>
          <p:nvPr/>
        </p:nvSpPr>
        <p:spPr>
          <a:xfrm>
            <a:off x="5011705" y="2459782"/>
            <a:ext cx="1973888" cy="1938435"/>
          </a:xfrm>
          <a:prstGeom prst="roundRect">
            <a:avLst/>
          </a:prstGeom>
          <a:solidFill>
            <a:srgbClr val="AABF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Architecture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(Static Design Step)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5E2E95-E830-D2E8-B7CB-FCF648A6E4E1}"/>
              </a:ext>
            </a:extLst>
          </p:cNvPr>
          <p:cNvSpPr/>
          <p:nvPr/>
        </p:nvSpPr>
        <p:spPr>
          <a:xfrm>
            <a:off x="8095517" y="2417795"/>
            <a:ext cx="2802638" cy="20224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Diagrams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Documentation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Architecture Decision Records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Static Validation Rules</a:t>
            </a:r>
            <a:endParaRPr lang="bg-BG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21ACB7-A8A6-373D-9943-47101B0BFEBC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901781" y="3429000"/>
            <a:ext cx="1109924" cy="0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BE53E4-17D5-8FC3-0E8F-50D04D3A454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6985593" y="3429000"/>
            <a:ext cx="110992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57566C-7A93-4E5A-3F28-82BCC3DEC623}"/>
              </a:ext>
            </a:extLst>
          </p:cNvPr>
          <p:cNvSpPr txBox="1"/>
          <p:nvPr/>
        </p:nvSpPr>
        <p:spPr>
          <a:xfrm>
            <a:off x="2211355" y="1633444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Input</a:t>
            </a:r>
            <a:endParaRPr lang="bg-BG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EEC56-DEFA-2F72-2526-0F7C7D7DD2DD}"/>
              </a:ext>
            </a:extLst>
          </p:cNvPr>
          <p:cNvSpPr txBox="1"/>
          <p:nvPr/>
        </p:nvSpPr>
        <p:spPr>
          <a:xfrm>
            <a:off x="9339123" y="1722831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Ouput</a:t>
            </a: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2197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8E467904-311B-C3FF-9C42-D5E4D25D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8944F08C-47A2-995B-63E1-D1EDD3C555F6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729191" cy="42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400" b="1" dirty="0">
                <a:solidFill>
                  <a:schemeClr val="lt1"/>
                </a:solidFill>
                <a:latin typeface="Montserrat"/>
                <a:sym typeface="Montserrat"/>
              </a:rPr>
              <a:t>The Problem with Traditional Way of Architecture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6FCB1-55ED-8DE8-82A5-02AA833AA4AD}"/>
              </a:ext>
            </a:extLst>
          </p:cNvPr>
          <p:cNvSpPr txBox="1"/>
          <p:nvPr/>
        </p:nvSpPr>
        <p:spPr>
          <a:xfrm>
            <a:off x="1348509" y="2145899"/>
            <a:ext cx="428718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Static</a:t>
            </a:r>
            <a:r>
              <a:rPr lang="bg-BG" sz="1600" dirty="0"/>
              <a:t> </a:t>
            </a:r>
            <a:r>
              <a:rPr lang="bg-BG" sz="1600" dirty="0" err="1"/>
              <a:t>documentation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Manual</a:t>
            </a:r>
            <a:r>
              <a:rPr lang="bg-BG" sz="1600" dirty="0"/>
              <a:t> </a:t>
            </a:r>
            <a:r>
              <a:rPr lang="bg-BG" sz="1600" dirty="0" err="1"/>
              <a:t>enforcement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Weak</a:t>
            </a:r>
            <a:r>
              <a:rPr lang="bg-BG" sz="1600" dirty="0"/>
              <a:t> </a:t>
            </a:r>
            <a:r>
              <a:rPr lang="bg-BG" sz="1600" dirty="0" err="1"/>
              <a:t>feedback</a:t>
            </a:r>
            <a:r>
              <a:rPr lang="bg-BG" sz="1600" dirty="0"/>
              <a:t> </a:t>
            </a:r>
            <a:r>
              <a:rPr lang="bg-BG" sz="1600" dirty="0" err="1"/>
              <a:t>loops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Architecture</a:t>
            </a:r>
            <a:r>
              <a:rPr lang="bg-BG" sz="1600" dirty="0"/>
              <a:t> </a:t>
            </a:r>
            <a:r>
              <a:rPr lang="bg-BG" sz="1600" dirty="0" err="1"/>
              <a:t>disconnected</a:t>
            </a:r>
            <a:r>
              <a:rPr lang="bg-BG" sz="1600" dirty="0"/>
              <a:t> </a:t>
            </a:r>
            <a:r>
              <a:rPr lang="bg-BG" sz="1600" dirty="0" err="1"/>
              <a:t>from</a:t>
            </a:r>
            <a:r>
              <a:rPr lang="bg-BG" sz="1600" dirty="0"/>
              <a:t> </a:t>
            </a:r>
            <a:r>
              <a:rPr lang="bg-BG" sz="1600" dirty="0" err="1"/>
              <a:t>delivery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00D4E-63D5-C191-3E2B-ED499C7534EC}"/>
              </a:ext>
            </a:extLst>
          </p:cNvPr>
          <p:cNvSpPr txBox="1"/>
          <p:nvPr/>
        </p:nvSpPr>
        <p:spPr>
          <a:xfrm>
            <a:off x="5756988" y="2546746"/>
            <a:ext cx="5352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b="1" kern="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bg-BG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bg-BG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F8CAA-C5DF-3444-6937-DDEAE22D99E7}"/>
              </a:ext>
            </a:extLst>
          </p:cNvPr>
          <p:cNvSpPr txBox="1"/>
          <p:nvPr/>
        </p:nvSpPr>
        <p:spPr>
          <a:xfrm>
            <a:off x="5756988" y="4055589"/>
            <a:ext cx="6083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bg-BG" sz="1800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rchitect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’s Mindset:  I have an </a:t>
            </a:r>
            <a:r>
              <a:rPr lang="bg-BG" sz="1800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architecture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, I have control!</a:t>
            </a:r>
            <a:endParaRPr lang="bg-BG" sz="18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1FE5C-795D-A3C9-828D-56B954AE9312}"/>
              </a:ext>
            </a:extLst>
          </p:cNvPr>
          <p:cNvSpPr txBox="1"/>
          <p:nvPr/>
        </p:nvSpPr>
        <p:spPr>
          <a:xfrm>
            <a:off x="5756988" y="4604184"/>
            <a:ext cx="6694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Reality:  You have only historical documentation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bg-BG" sz="18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8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DFAF23C1-E78C-5F4B-2921-C0A8BAB7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6C42D7AC-FE98-4BD1-128E-DE6B1D3AAE9D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The Problem: Architecture Drift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F5475-A459-11E3-380B-AC8D7378F175}"/>
              </a:ext>
            </a:extLst>
          </p:cNvPr>
          <p:cNvSpPr txBox="1"/>
          <p:nvPr/>
        </p:nvSpPr>
        <p:spPr>
          <a:xfrm>
            <a:off x="1348509" y="2145899"/>
            <a:ext cx="557876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Uncontrolled</a:t>
            </a:r>
            <a:r>
              <a:rPr lang="bg-BG" sz="1600" dirty="0"/>
              <a:t> </a:t>
            </a:r>
            <a:r>
              <a:rPr lang="bg-BG" sz="1600" dirty="0" err="1"/>
              <a:t>change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Divergence</a:t>
            </a:r>
            <a:r>
              <a:rPr lang="bg-BG" sz="1600" dirty="0"/>
              <a:t> </a:t>
            </a:r>
            <a:r>
              <a:rPr lang="bg-BG" sz="1600" dirty="0" err="1"/>
              <a:t>between</a:t>
            </a:r>
            <a:r>
              <a:rPr lang="bg-BG" sz="1600" dirty="0"/>
              <a:t> </a:t>
            </a:r>
            <a:r>
              <a:rPr lang="bg-BG" sz="1600" dirty="0" err="1"/>
              <a:t>docs</a:t>
            </a:r>
            <a:r>
              <a:rPr lang="bg-BG" sz="1600" dirty="0"/>
              <a:t> </a:t>
            </a:r>
            <a:r>
              <a:rPr lang="bg-BG" sz="1600" dirty="0" err="1"/>
              <a:t>and</a:t>
            </a:r>
            <a:r>
              <a:rPr lang="bg-BG" sz="1600" dirty="0"/>
              <a:t> </a:t>
            </a:r>
            <a:r>
              <a:rPr lang="bg-BG" sz="1600" dirty="0" err="1"/>
              <a:t>code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Hidden</a:t>
            </a:r>
            <a:r>
              <a:rPr lang="bg-BG" sz="1600" dirty="0"/>
              <a:t> </a:t>
            </a:r>
            <a:r>
              <a:rPr lang="bg-BG" sz="1600" dirty="0" err="1"/>
              <a:t>architectural</a:t>
            </a:r>
            <a:r>
              <a:rPr lang="bg-BG" sz="1600" dirty="0"/>
              <a:t> </a:t>
            </a:r>
            <a:r>
              <a:rPr lang="bg-BG" sz="1600" dirty="0" err="1"/>
              <a:t>decisions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sz="1600" dirty="0" err="1"/>
              <a:t>Increasing</a:t>
            </a:r>
            <a:r>
              <a:rPr lang="bg-BG" sz="1600" dirty="0"/>
              <a:t> </a:t>
            </a:r>
            <a:r>
              <a:rPr lang="bg-BG" sz="1600" dirty="0" err="1"/>
              <a:t>system</a:t>
            </a:r>
            <a:r>
              <a:rPr lang="bg-BG" sz="1600" dirty="0"/>
              <a:t> </a:t>
            </a:r>
            <a:r>
              <a:rPr lang="bg-BG" sz="1600" dirty="0" err="1"/>
              <a:t>disorder</a:t>
            </a:r>
            <a:r>
              <a:rPr lang="bg-BG" sz="1600" dirty="0"/>
              <a:t> </a:t>
            </a:r>
            <a:r>
              <a:rPr lang="bg-BG" sz="1600" dirty="0" err="1"/>
              <a:t>and</a:t>
            </a:r>
            <a:r>
              <a:rPr lang="bg-BG" sz="1600" dirty="0"/>
              <a:t> </a:t>
            </a:r>
            <a:r>
              <a:rPr lang="bg-BG" sz="1600" dirty="0" err="1"/>
              <a:t>uncertainty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FC2CF-3F2B-9ACE-F505-42B20B40A4FA}"/>
              </a:ext>
            </a:extLst>
          </p:cNvPr>
          <p:cNvSpPr txBox="1"/>
          <p:nvPr/>
        </p:nvSpPr>
        <p:spPr>
          <a:xfrm>
            <a:off x="5980923" y="2530619"/>
            <a:ext cx="5352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 Drift is not a people problem.</a:t>
            </a: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process problem.</a:t>
            </a:r>
            <a:r>
              <a:rPr lang="en-US" sz="18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bg-BG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8CA8F-44C6-F838-3089-D36E3747F1B2}"/>
              </a:ext>
            </a:extLst>
          </p:cNvPr>
          <p:cNvSpPr txBox="1"/>
          <p:nvPr/>
        </p:nvSpPr>
        <p:spPr>
          <a:xfrm>
            <a:off x="5980923" y="4208002"/>
            <a:ext cx="5850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If the system allows architecture to be violated silently,</a:t>
            </a: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it will be violated — especially under delivery pressure!</a:t>
            </a:r>
            <a:endParaRPr lang="bg-BG" sz="18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F1CD7-DA96-D4F2-9B87-7D553D07E5DC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9872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599334A4-81F0-A783-37FB-167D46D1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23BFE918-C2B9-83EF-23C2-5F27C2DE04B3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</a:rPr>
              <a:t>Dynamic Architecture: An Iterative Process</a:t>
            </a:r>
            <a:endParaRPr lang="en-US" sz="2500" b="1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C8B703-E26F-CFCC-65CF-BDDFAF36C992}"/>
              </a:ext>
            </a:extLst>
          </p:cNvPr>
          <p:cNvSpPr/>
          <p:nvPr/>
        </p:nvSpPr>
        <p:spPr>
          <a:xfrm>
            <a:off x="1238661" y="1461215"/>
            <a:ext cx="2802638" cy="11604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Requirements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Non-functional Requirements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Business Rules &amp; Constraints  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Governance Rules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F1EA4C-CC03-CE5C-4AA6-3546DA57EDDD}"/>
              </a:ext>
            </a:extLst>
          </p:cNvPr>
          <p:cNvSpPr/>
          <p:nvPr/>
        </p:nvSpPr>
        <p:spPr>
          <a:xfrm>
            <a:off x="4767705" y="1443135"/>
            <a:ext cx="2802638" cy="1196651"/>
          </a:xfrm>
          <a:prstGeom prst="roundRect">
            <a:avLst/>
          </a:prstGeom>
          <a:solidFill>
            <a:srgbClr val="AABF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Software Architecture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(Design, </a:t>
            </a:r>
            <a:r>
              <a:rPr lang="en-US" dirty="0" err="1">
                <a:solidFill>
                  <a:schemeClr val="tx1"/>
                </a:solidFill>
              </a:rPr>
              <a:t>Decision,Validation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17D698-2597-2271-3324-CD606CCC7FE4}"/>
              </a:ext>
            </a:extLst>
          </p:cNvPr>
          <p:cNvSpPr/>
          <p:nvPr/>
        </p:nvSpPr>
        <p:spPr>
          <a:xfrm>
            <a:off x="8296749" y="1443135"/>
            <a:ext cx="2802638" cy="11966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Diagrams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Documentation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ADRs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Validation Rules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AC1824-2526-573D-83EC-DDCA93AFFE3A}"/>
              </a:ext>
            </a:extLst>
          </p:cNvPr>
          <p:cNvSpPr/>
          <p:nvPr/>
        </p:nvSpPr>
        <p:spPr>
          <a:xfrm>
            <a:off x="4836129" y="4423487"/>
            <a:ext cx="2802638" cy="1196651"/>
          </a:xfrm>
          <a:prstGeom prst="roundRect">
            <a:avLst/>
          </a:prstGeom>
          <a:solidFill>
            <a:srgbClr val="AABF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Feedback: Evaluation, Metrics,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  Implementation Learning</a:t>
            </a:r>
            <a:endParaRPr lang="bg-BG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39C757-E649-A78D-DCE5-E74520E91247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4041299" y="2041461"/>
            <a:ext cx="726406" cy="2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816813-286F-2078-5CAA-867D2BA8A239}"/>
              </a:ext>
            </a:extLst>
          </p:cNvPr>
          <p:cNvCxnSpPr>
            <a:cxnSpLocks/>
          </p:cNvCxnSpPr>
          <p:nvPr/>
        </p:nvCxnSpPr>
        <p:spPr>
          <a:xfrm flipV="1">
            <a:off x="7570343" y="2041458"/>
            <a:ext cx="726406" cy="2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7B4F1C0-AD38-7277-E9D9-79C5DD6E7980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rot="5400000">
            <a:off x="7477405" y="2801149"/>
            <a:ext cx="2382027" cy="2059301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17218EC-4925-B2E2-BE01-CF91FD81BA6F}"/>
              </a:ext>
            </a:extLst>
          </p:cNvPr>
          <p:cNvCxnSpPr>
            <a:cxnSpLocks/>
            <a:stCxn id="12" idx="1"/>
            <a:endCxn id="3" idx="2"/>
          </p:cNvCxnSpPr>
          <p:nvPr/>
        </p:nvCxnSpPr>
        <p:spPr>
          <a:xfrm rot="10800000">
            <a:off x="2639981" y="2621711"/>
            <a:ext cx="2196149" cy="2400103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E1C5131-5C3A-EE10-443F-03532D4CDEC3}"/>
              </a:ext>
            </a:extLst>
          </p:cNvPr>
          <p:cNvSpPr txBox="1"/>
          <p:nvPr/>
        </p:nvSpPr>
        <p:spPr>
          <a:xfrm flipH="1">
            <a:off x="3908942" y="2985211"/>
            <a:ext cx="471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How to automate this iterative process?</a:t>
            </a:r>
            <a:endParaRPr lang="bg-BG" sz="1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002D13-7564-4FB5-FCE9-FD1E583B966A}"/>
              </a:ext>
            </a:extLst>
          </p:cNvPr>
          <p:cNvSpPr txBox="1"/>
          <p:nvPr/>
        </p:nvSpPr>
        <p:spPr>
          <a:xfrm flipH="1">
            <a:off x="4404502" y="3764031"/>
            <a:ext cx="333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6"/>
                </a:solidFill>
              </a:rPr>
              <a:t>Make Architecture as Code</a:t>
            </a:r>
            <a:endParaRPr lang="bg-BG" sz="1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43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29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4319ACB6-21BA-E4ED-2609-247E19D3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50ACA5DD-284C-3ED4-FFF6-E0C3F4E4F8D7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How Architecture-as-Code 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7F030-F03C-1EC4-394B-F6E5AAA0627E}"/>
              </a:ext>
            </a:extLst>
          </p:cNvPr>
          <p:cNvSpPr txBox="1"/>
          <p:nvPr/>
        </p:nvSpPr>
        <p:spPr>
          <a:xfrm>
            <a:off x="2179170" y="2183999"/>
            <a:ext cx="557876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Architecture encoded as code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Automated validation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Version-controlled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Continuous integration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1210A-3C41-F58D-6839-F943D6BE0903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4610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0A6E0991-CE94-8442-EB37-DFF7C66B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C6218ED0-E158-60A3-F7E0-6BAA97A41ED0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Architecture Development Is Iterative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E3340-6B5E-14C9-AD7A-FEB0D4618C83}"/>
              </a:ext>
            </a:extLst>
          </p:cNvPr>
          <p:cNvSpPr txBox="1"/>
          <p:nvPr/>
        </p:nvSpPr>
        <p:spPr>
          <a:xfrm>
            <a:off x="2179170" y="2183999"/>
            <a:ext cx="55787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Architecture evolves each sprint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Continuous feedback loop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Dynamic decision-making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FD952-48DF-FFBE-78E5-C85D0EEECF64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2087E-77DB-E8F9-61B0-E1BB1ED663D4}"/>
              </a:ext>
            </a:extLst>
          </p:cNvPr>
          <p:cNvSpPr txBox="1"/>
          <p:nvPr/>
        </p:nvSpPr>
        <p:spPr>
          <a:xfrm>
            <a:off x="2451813" y="4070240"/>
            <a:ext cx="5578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 does not happen once.</a:t>
            </a: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evolves every sprint — whether you control it or not. </a:t>
            </a:r>
            <a:endParaRPr lang="bg-BG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19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5AF73A8A-5F3E-6C62-41CD-2B96E8C4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AF8893C-33E8-7654-7E78-9C4ED22EEC69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Architecture-as-Code: The Shift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EDBE3-0816-5E6E-A488-3A6402A5B77A}"/>
              </a:ext>
            </a:extLst>
          </p:cNvPr>
          <p:cNvSpPr txBox="1"/>
          <p:nvPr/>
        </p:nvSpPr>
        <p:spPr>
          <a:xfrm>
            <a:off x="2020661" y="1745457"/>
            <a:ext cx="653620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Instead of:</a:t>
            </a:r>
            <a:br>
              <a:rPr lang="en-US" sz="1600" dirty="0"/>
            </a:br>
            <a:endParaRPr lang="en-US" sz="1600" dirty="0"/>
          </a:p>
          <a:p>
            <a:pPr algn="ctr"/>
            <a:r>
              <a:rPr lang="en-US" sz="1600" dirty="0"/>
              <a:t>	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draw → implement → forget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We do:</a:t>
            </a:r>
            <a:br>
              <a:rPr lang="en-US" sz="1600" dirty="0"/>
            </a:br>
            <a:endParaRPr lang="en-US" sz="1600" dirty="0"/>
          </a:p>
          <a:p>
            <a:pPr algn="ctr"/>
            <a:r>
              <a:rPr lang="en-US" sz="1600" dirty="0"/>
              <a:t>	</a:t>
            </a:r>
            <a:r>
              <a:rPr lang="en-US" sz="1800" b="1" dirty="0">
                <a:solidFill>
                  <a:schemeClr val="accent6"/>
                </a:solidFill>
              </a:rPr>
              <a:t>define → version → validate → evolve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322D7-B5B2-5170-380D-915FCC943876}"/>
              </a:ext>
            </a:extLst>
          </p:cNvPr>
          <p:cNvSpPr txBox="1"/>
          <p:nvPr/>
        </p:nvSpPr>
        <p:spPr>
          <a:xfrm>
            <a:off x="3547188" y="4869656"/>
            <a:ext cx="4853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Architecture becomes executable knowledge</a:t>
            </a:r>
            <a:endParaRPr lang="bg-BG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82638-27F7-8B6F-E051-C30779A811CE}"/>
              </a:ext>
            </a:extLst>
          </p:cNvPr>
          <p:cNvSpPr txBox="1"/>
          <p:nvPr/>
        </p:nvSpPr>
        <p:spPr>
          <a:xfrm>
            <a:off x="3842463" y="4288980"/>
            <a:ext cx="5578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Code is the enforcement mechanism!</a:t>
            </a:r>
            <a:endParaRPr lang="bg-BG" sz="18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7657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8A097470-D203-8241-1540-A7D90AE5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6EE44D8E-6402-E1D4-E761-6D5EDB9ACEA0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Architecture Lifecycle Phases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BB231-F741-C3DE-B2C3-40FBA30C5E16}"/>
              </a:ext>
            </a:extLst>
          </p:cNvPr>
          <p:cNvSpPr txBox="1"/>
          <p:nvPr/>
        </p:nvSpPr>
        <p:spPr>
          <a:xfrm>
            <a:off x="2179170" y="2183999"/>
            <a:ext cx="55787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Design &amp; Modeling</a:t>
            </a:r>
            <a:br>
              <a:rPr lang="fr-FR" sz="1600" dirty="0"/>
            </a:br>
            <a:endParaRPr lang="fr-FR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Validation &amp; Governance</a:t>
            </a:r>
            <a:br>
              <a:rPr lang="fr-FR" sz="1600" dirty="0"/>
            </a:br>
            <a:endParaRPr lang="fr-FR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Implementation Alignment</a:t>
            </a:r>
            <a:br>
              <a:rPr lang="fr-FR" sz="1600" dirty="0"/>
            </a:br>
            <a:endParaRPr lang="fr-FR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Deployment &amp; Runtime Architecture</a:t>
            </a:r>
            <a:br>
              <a:rPr lang="fr-FR" sz="1600" dirty="0"/>
            </a:br>
            <a:endParaRPr lang="fr-FR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Documentation &amp; Knowledge Sharing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12C46-D33E-16B2-314D-158C9589994B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9FE54-82C5-F595-03E8-5EAD07B8D0C9}"/>
              </a:ext>
            </a:extLst>
          </p:cNvPr>
          <p:cNvSpPr txBox="1"/>
          <p:nvPr/>
        </p:nvSpPr>
        <p:spPr>
          <a:xfrm>
            <a:off x="6539345" y="2965537"/>
            <a:ext cx="5352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phases are connected, not sequential silos.</a:t>
            </a: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Architecture-as-Code exists to bind them together. </a:t>
            </a:r>
            <a:endParaRPr lang="bg-BG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61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3B8293FF-1FB1-562F-FD47-F643DFDB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DEB37CB3-8F43-41FA-4E65-2AFADF63D1E5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 err="1">
                <a:solidFill>
                  <a:schemeClr val="lt1"/>
                </a:solidFill>
                <a:latin typeface="Montserrat"/>
                <a:sym typeface="Montserrat"/>
              </a:rPr>
              <a:t>AaC</a:t>
            </a: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 Tools – Overview (1/3)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0C5CD-BC0D-BD2F-99D9-3E833F854986}"/>
              </a:ext>
            </a:extLst>
          </p:cNvPr>
          <p:cNvSpPr txBox="1"/>
          <p:nvPr/>
        </p:nvSpPr>
        <p:spPr>
          <a:xfrm>
            <a:off x="1348509" y="1038641"/>
            <a:ext cx="78907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Phase 1 — Design &amp; Modeling</a:t>
            </a:r>
          </a:p>
          <a:p>
            <a:endParaRPr lang="en-US" sz="1600" dirty="0"/>
          </a:p>
          <a:p>
            <a:r>
              <a:rPr lang="en-US" sz="1600" b="1" dirty="0"/>
              <a:t>Goal: </a:t>
            </a:r>
            <a:r>
              <a:rPr lang="en-US" sz="1600" dirty="0"/>
              <a:t>Define and visualize architecture structures.</a:t>
            </a:r>
          </a:p>
          <a:p>
            <a:r>
              <a:rPr lang="en-US" sz="1600" b="1" dirty="0"/>
              <a:t>Tools: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Structurizr</a:t>
            </a:r>
            <a:r>
              <a:rPr lang="en-US" sz="1600" b="1" dirty="0"/>
              <a:t> DSL / C4 Model </a:t>
            </a:r>
            <a:r>
              <a:rPr lang="en-US" sz="1600" dirty="0"/>
              <a:t>— model architecture as code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PlantUML</a:t>
            </a:r>
            <a:r>
              <a:rPr lang="en-US" sz="1600" dirty="0"/>
              <a:t> — generate diagrams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ArchiMate/</a:t>
            </a:r>
            <a:r>
              <a:rPr lang="en-US" sz="1600" b="1" dirty="0" err="1"/>
              <a:t>JArchi</a:t>
            </a:r>
            <a:r>
              <a:rPr lang="en-US" sz="1600" b="1" dirty="0"/>
              <a:t> </a:t>
            </a:r>
            <a:r>
              <a:rPr lang="en-US" sz="1600" dirty="0"/>
              <a:t>— model enterprise-level architecture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Modelix</a:t>
            </a:r>
            <a:r>
              <a:rPr lang="en-US" sz="1600" dirty="0"/>
              <a:t> — collaborative modeling platform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Mermaid</a:t>
            </a:r>
            <a:r>
              <a:rPr lang="en-US" sz="1600" dirty="0"/>
              <a:t> (for lightweight diagramming in Markdown)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30229-34A1-981F-D2FC-6D7F4AB1DD29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AC3D4-4391-D82B-59C6-7A02F9862A07}"/>
              </a:ext>
            </a:extLst>
          </p:cNvPr>
          <p:cNvSpPr txBox="1"/>
          <p:nvPr/>
        </p:nvSpPr>
        <p:spPr>
          <a:xfrm>
            <a:off x="1348508" y="3539610"/>
            <a:ext cx="74049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Phase 2 — Validation &amp; Governance</a:t>
            </a:r>
          </a:p>
          <a:p>
            <a:endParaRPr lang="en-US" sz="1600" dirty="0"/>
          </a:p>
          <a:p>
            <a:r>
              <a:rPr lang="en-US" sz="1600" b="1" dirty="0"/>
              <a:t>Goal: </a:t>
            </a:r>
            <a:r>
              <a:rPr lang="en-US" sz="1600" dirty="0"/>
              <a:t>Enforce quality, compliance, and architecture standards</a:t>
            </a:r>
          </a:p>
          <a:p>
            <a:r>
              <a:rPr lang="en-US" sz="1600" b="1" dirty="0"/>
              <a:t>Tools: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ArchUnit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verify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architectural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rules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in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code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Open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Policy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Agent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(OPA)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enforce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governance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code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SonarQube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maintain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code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quality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structure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compliance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AWS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Config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Azure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Policy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ensure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cloud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compliance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439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5E6EA90C-C079-DDBC-CCDD-9897D4C7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A5FCE21-610B-2625-12D7-C9658DBDF8BD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 err="1">
                <a:solidFill>
                  <a:schemeClr val="lt1"/>
                </a:solidFill>
                <a:latin typeface="Montserrat"/>
                <a:sym typeface="Montserrat"/>
              </a:rPr>
              <a:t>AaC</a:t>
            </a: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 Tools – Overview (2/3)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1B898-FB56-2695-1C9A-3A9A57212BEC}"/>
              </a:ext>
            </a:extLst>
          </p:cNvPr>
          <p:cNvSpPr txBox="1"/>
          <p:nvPr/>
        </p:nvSpPr>
        <p:spPr>
          <a:xfrm>
            <a:off x="1348509" y="1038641"/>
            <a:ext cx="78907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Phase 3 — Implementation Alignment</a:t>
            </a:r>
          </a:p>
          <a:p>
            <a:endParaRPr lang="en-US" sz="1600" dirty="0"/>
          </a:p>
          <a:p>
            <a:r>
              <a:rPr lang="en-US" sz="1600" b="1" dirty="0"/>
              <a:t>Goal: </a:t>
            </a:r>
            <a:r>
              <a:rPr lang="en-US" sz="1600" dirty="0"/>
              <a:t>Ensure code and infrastructure reflect intended architecture.</a:t>
            </a:r>
          </a:p>
          <a:p>
            <a:r>
              <a:rPr lang="en-US" sz="1600" b="1" dirty="0"/>
              <a:t>Tools: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ArchUnit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+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jQAssistant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enforce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patterns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Terraform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CloudFormation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Pulumi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IaC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alignment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Structurizr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Workspace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Links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link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models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to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code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Checkov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validate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IaC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structure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3"/>
            <a:br>
              <a:rPr lang="en-US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7F7E3-2B1B-7FFC-FD18-490EC7778124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2F23B-B973-CB39-0887-3332669A3EC7}"/>
              </a:ext>
            </a:extLst>
          </p:cNvPr>
          <p:cNvSpPr txBox="1"/>
          <p:nvPr/>
        </p:nvSpPr>
        <p:spPr>
          <a:xfrm>
            <a:off x="1348508" y="3539610"/>
            <a:ext cx="74049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Phase 4 — Deployment &amp; Runtime Architecture</a:t>
            </a:r>
          </a:p>
          <a:p>
            <a:endParaRPr lang="en-US" sz="1600" dirty="0"/>
          </a:p>
          <a:p>
            <a:r>
              <a:rPr lang="en-US" sz="1600" b="1" dirty="0"/>
              <a:t>Goal: </a:t>
            </a:r>
            <a:r>
              <a:rPr lang="en-US" sz="1600" dirty="0"/>
              <a:t>Validate architecture realization in production.</a:t>
            </a:r>
          </a:p>
          <a:p>
            <a:r>
              <a:rPr lang="en-US" sz="1600" b="1" dirty="0"/>
              <a:t>Tools: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Kubernetes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Helm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manage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runtime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architectural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components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Prometheus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+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Grafana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observe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architecture-level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metrics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CloudQuery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Datadog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New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Relic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detect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runtime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drift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0249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D105EE58-646A-962B-3268-9E9B3BF4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1EA34EC4-4E24-F42D-CF54-72E12CA19AEC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 err="1">
                <a:solidFill>
                  <a:schemeClr val="lt1"/>
                </a:solidFill>
                <a:latin typeface="Montserrat"/>
                <a:sym typeface="Montserrat"/>
              </a:rPr>
              <a:t>AaC</a:t>
            </a: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 Tools – Overview (3/3)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C1EF0-C925-607B-7247-FB9ABC310F98}"/>
              </a:ext>
            </a:extLst>
          </p:cNvPr>
          <p:cNvSpPr txBox="1"/>
          <p:nvPr/>
        </p:nvSpPr>
        <p:spPr>
          <a:xfrm>
            <a:off x="1348509" y="1510487"/>
            <a:ext cx="78907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Phase 5 — Documentation &amp; Knowledge Sharing</a:t>
            </a:r>
          </a:p>
          <a:p>
            <a:endParaRPr lang="en-US" sz="1600" dirty="0"/>
          </a:p>
          <a:p>
            <a:r>
              <a:rPr lang="en-US" sz="1600" b="1" dirty="0"/>
              <a:t>Goal: </a:t>
            </a:r>
            <a:r>
              <a:rPr lang="en-US" sz="1600" dirty="0"/>
              <a:t>Maintain living, versioned architecture knowledge</a:t>
            </a:r>
          </a:p>
          <a:p>
            <a:r>
              <a:rPr lang="en-US" sz="1600" b="1" dirty="0"/>
              <a:t>Tools: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MkDocs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Docusaurus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AsciiDoctor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Docs-as-Code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sites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Structurizr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Lite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C4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Exporter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auto-generate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diagrams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ADR </a:t>
            </a:r>
            <a:r>
              <a:rPr lang="bg-BG" altLang="bg-BG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Tools</a:t>
            </a:r>
            <a:r>
              <a:rPr lang="bg-BG" altLang="bg-BG" sz="1600" b="1" dirty="0">
                <a:solidFill>
                  <a:schemeClr val="tx1"/>
                </a:solidFill>
                <a:latin typeface="Arial" panose="020B0604020202020204" pitchFamily="34" charset="0"/>
              </a:rPr>
              <a:t> / Log4Brains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manage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architectural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decisions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5256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1BBD62BD-B9B8-7609-D7C9-8933EAA8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A4A581D3-B163-98FE-DBEF-12F0F9815196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 err="1">
                <a:solidFill>
                  <a:schemeClr val="lt1"/>
                </a:solidFill>
                <a:latin typeface="Montserrat"/>
                <a:sym typeface="Montserrat"/>
              </a:rPr>
              <a:t>AaC</a:t>
            </a: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 – Tools (Summary)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307B8-06C5-DEE1-BCC4-4EF6FA54697E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350E32-A7C5-371A-D6D0-D75D03DE2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944896"/>
              </p:ext>
            </p:extLst>
          </p:nvPr>
        </p:nvGraphicFramePr>
        <p:xfrm>
          <a:off x="461818" y="779760"/>
          <a:ext cx="11445876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029">
                  <a:extLst>
                    <a:ext uri="{9D8B030D-6E8A-4147-A177-3AD203B41FA5}">
                      <a16:colId xmlns:a16="http://schemas.microsoft.com/office/drawing/2014/main" val="3661758405"/>
                    </a:ext>
                  </a:extLst>
                </a:gridCol>
                <a:gridCol w="3216909">
                  <a:extLst>
                    <a:ext uri="{9D8B030D-6E8A-4147-A177-3AD203B41FA5}">
                      <a16:colId xmlns:a16="http://schemas.microsoft.com/office/drawing/2014/main" val="1410583764"/>
                    </a:ext>
                  </a:extLst>
                </a:gridCol>
                <a:gridCol w="4055276">
                  <a:extLst>
                    <a:ext uri="{9D8B030D-6E8A-4147-A177-3AD203B41FA5}">
                      <a16:colId xmlns:a16="http://schemas.microsoft.com/office/drawing/2014/main" val="2476780558"/>
                    </a:ext>
                  </a:extLst>
                </a:gridCol>
                <a:gridCol w="1667662">
                  <a:extLst>
                    <a:ext uri="{9D8B030D-6E8A-4147-A177-3AD203B41FA5}">
                      <a16:colId xmlns:a16="http://schemas.microsoft.com/office/drawing/2014/main" val="19800719"/>
                    </a:ext>
                  </a:extLst>
                </a:gridCol>
              </a:tblGrid>
              <a:tr h="5021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Lifecycle Phase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Goal / Purpose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Automatable Areas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Tools / Frameworks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509351"/>
                  </a:ext>
                </a:extLst>
              </a:tr>
              <a:tr h="915741">
                <a:tc>
                  <a:txBody>
                    <a:bodyPr/>
                    <a:lstStyle/>
                    <a:p>
                      <a:r>
                        <a:rPr lang="en-US" dirty="0"/>
                        <a:t>Design &amp; Modeling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and visualize architecture structure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Model definitions as code (DSL/YAML/JSON) </a:t>
                      </a:r>
                      <a:br>
                        <a:rPr lang="en-US" dirty="0"/>
                      </a:br>
                      <a:r>
                        <a:rPr lang="en-US" dirty="0"/>
                        <a:t>- Auto-generate system/context diagrams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StructurizrDSL</a:t>
                      </a:r>
                      <a:r>
                        <a:rPr lang="en-US" dirty="0"/>
                        <a:t>, </a:t>
                      </a:r>
                      <a:br>
                        <a:rPr lang="en-US" dirty="0"/>
                      </a:br>
                      <a:r>
                        <a:rPr lang="en-US" dirty="0"/>
                        <a:t>C4 Model, </a:t>
                      </a:r>
                      <a:r>
                        <a:rPr lang="en-US" dirty="0" err="1"/>
                        <a:t>PlantUML</a:t>
                      </a:r>
                      <a:r>
                        <a:rPr lang="en-US" dirty="0"/>
                        <a:t>, ArchiMate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49903"/>
                  </a:ext>
                </a:extLst>
              </a:tr>
              <a:tr h="1122521">
                <a:tc>
                  <a:txBody>
                    <a:bodyPr/>
                    <a:lstStyle/>
                    <a:p>
                      <a:r>
                        <a:rPr lang="en-US" dirty="0"/>
                        <a:t>Validation &amp; Governance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 architecture meets non-functional and compliance standards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Fitness functions for scalability, performance, security </a:t>
                      </a:r>
                      <a:br>
                        <a:rPr lang="en-US" dirty="0"/>
                      </a:br>
                      <a:r>
                        <a:rPr lang="en-US" dirty="0"/>
                        <a:t>- Governance policy enforcement </a:t>
                      </a:r>
                      <a:br>
                        <a:rPr lang="en-US" dirty="0"/>
                      </a:br>
                      <a:r>
                        <a:rPr lang="en-US" dirty="0"/>
                        <a:t>- Architecture drift detection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ArchUnit</a:t>
                      </a:r>
                      <a:r>
                        <a:rPr lang="en-US" dirty="0"/>
                        <a:t>, </a:t>
                      </a:r>
                      <a:br>
                        <a:rPr lang="en-US" dirty="0"/>
                      </a:br>
                      <a:r>
                        <a:rPr lang="en-US" dirty="0"/>
                        <a:t>AWS Config, Azure Policy, OPA (Open Policy Agent)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381643"/>
                  </a:ext>
                </a:extLst>
              </a:tr>
              <a:tr h="915741">
                <a:tc>
                  <a:txBody>
                    <a:bodyPr/>
                    <a:lstStyle/>
                    <a:p>
                      <a:r>
                        <a:rPr lang="en-US" dirty="0"/>
                        <a:t>Implementation Alignment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Maintain alignment between code and architecture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Validate modular boundaries and dependencies </a:t>
                      </a:r>
                      <a:br>
                        <a:rPr lang="en-US" dirty="0"/>
                      </a:br>
                      <a:r>
                        <a:rPr lang="en-US" dirty="0"/>
                        <a:t>- Map architecture components to </a:t>
                      </a:r>
                      <a:r>
                        <a:rPr lang="en-US" dirty="0" err="1"/>
                        <a:t>IaC</a:t>
                      </a:r>
                      <a:r>
                        <a:rPr lang="en-US" dirty="0"/>
                        <a:t> modules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ArchUnit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jQAssistant</a:t>
                      </a:r>
                      <a:r>
                        <a:rPr lang="en-US" dirty="0"/>
                        <a:t>, Terraform, CloudFormation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82775"/>
                  </a:ext>
                </a:extLst>
              </a:tr>
              <a:tr h="708961">
                <a:tc>
                  <a:txBody>
                    <a:bodyPr/>
                    <a:lstStyle/>
                    <a:p>
                      <a:r>
                        <a:rPr lang="en-US" dirty="0"/>
                        <a:t>Deployment &amp; Runtime Architecture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Observe and validate runtime realization of architecture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Visualize runtime architecture from deployment metadata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Kubernetes, Prometheus, Grafana,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02981"/>
                  </a:ext>
                </a:extLst>
              </a:tr>
              <a:tr h="1122521">
                <a:tc>
                  <a:txBody>
                    <a:bodyPr/>
                    <a:lstStyle/>
                    <a:p>
                      <a:r>
                        <a:rPr lang="en-US" dirty="0"/>
                        <a:t>Documentation &amp; Knowledge Sharing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Keep architecture knowledge current and accessible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Auto-generate documentation and diagrams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Trace changes and version architectural decisions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Structurizr</a:t>
                      </a:r>
                      <a:r>
                        <a:rPr lang="en-US" dirty="0"/>
                        <a:t> Lite, </a:t>
                      </a:r>
                      <a:r>
                        <a:rPr lang="en-US" dirty="0" err="1"/>
                        <a:t>MkDocs</a:t>
                      </a:r>
                      <a:r>
                        <a:rPr lang="en-US" dirty="0"/>
                        <a:t>, ADR Tools, Docs-as-Code (</a:t>
                      </a:r>
                      <a:r>
                        <a:rPr lang="en-US" dirty="0" err="1"/>
                        <a:t>AsciiDoctor</a:t>
                      </a:r>
                      <a:r>
                        <a:rPr lang="en-US" dirty="0"/>
                        <a:t>, Markdown)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603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86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A39EDBC8-FDF4-16EA-DFE8-4B9110417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">
            <a:extLst>
              <a:ext uri="{FF2B5EF4-FFF2-40B4-BE49-F238E27FC236}">
                <a16:creationId xmlns:a16="http://schemas.microsoft.com/office/drawing/2014/main" id="{0FC5DAD7-43B4-EA22-F9F2-D6BDC4F82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77594" y="2197202"/>
            <a:ext cx="459810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rPr lang="en-US" dirty="0"/>
              <a:t>Demo</a:t>
            </a:r>
            <a:endParaRPr dirty="0"/>
          </a:p>
        </p:txBody>
      </p:sp>
      <p:sp>
        <p:nvSpPr>
          <p:cNvPr id="306" name="Google Shape;306;p3">
            <a:extLst>
              <a:ext uri="{FF2B5EF4-FFF2-40B4-BE49-F238E27FC236}">
                <a16:creationId xmlns:a16="http://schemas.microsoft.com/office/drawing/2014/main" id="{5CAABC2A-C081-5923-4EFF-00C5CB2DBD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77594" y="3136350"/>
            <a:ext cx="499359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500" dirty="0"/>
              <a:t>Order Processing System</a:t>
            </a:r>
            <a:endParaRPr sz="2500" dirty="0"/>
          </a:p>
        </p:txBody>
      </p:sp>
    </p:spTree>
    <p:extLst>
      <p:ext uri="{BB962C8B-B14F-4D97-AF65-F5344CB8AC3E}">
        <p14:creationId xmlns:p14="http://schemas.microsoft.com/office/powerpoint/2010/main" val="2802408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92991F33-DFFA-C9E6-567A-33E81F9F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F99BBD1-A60E-2197-E06A-D392405FF0D6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</a:rPr>
              <a:t>Order Processing System - Overview</a:t>
            </a:r>
            <a:endParaRPr lang="en-US" sz="2500" b="1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CA4DB-7346-E852-ACED-4EF301B2191A}"/>
              </a:ext>
            </a:extLst>
          </p:cNvPr>
          <p:cNvSpPr txBox="1"/>
          <p:nvPr/>
        </p:nvSpPr>
        <p:spPr>
          <a:xfrm>
            <a:off x="1438276" y="2208192"/>
            <a:ext cx="51816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Processing System provides the following functionalities: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Create Order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Process Order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Track Order Status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Cancel Order</a:t>
            </a:r>
            <a:br>
              <a:rPr lang="en-US" dirty="0"/>
            </a:br>
            <a:br>
              <a:rPr lang="en-US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D0286-BAC6-A429-8C4D-7473D8541014}"/>
              </a:ext>
            </a:extLst>
          </p:cNvPr>
          <p:cNvSpPr txBox="1"/>
          <p:nvPr/>
        </p:nvSpPr>
        <p:spPr>
          <a:xfrm>
            <a:off x="1621195" y="4393406"/>
            <a:ext cx="6694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963AA6-2F20-8279-31ED-9D3A289D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606" y="2575249"/>
            <a:ext cx="7837830" cy="276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F36931C0-EF9E-B2FA-FEED-3FD66EE3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238061C-94BB-6C6B-B6A2-6C6B6984CBAD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</a:rPr>
              <a:t>Order Processing System - </a:t>
            </a:r>
            <a:r>
              <a:rPr lang="en-US" sz="2500" b="1" dirty="0" err="1">
                <a:solidFill>
                  <a:schemeClr val="lt1"/>
                </a:solidFill>
                <a:latin typeface="Montserrat"/>
              </a:rPr>
              <a:t>AaC</a:t>
            </a:r>
            <a:endParaRPr lang="en-US" sz="2500" b="1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BFA2D-1BE9-DD7B-6492-FF637B678371}"/>
              </a:ext>
            </a:extLst>
          </p:cNvPr>
          <p:cNvSpPr txBox="1"/>
          <p:nvPr/>
        </p:nvSpPr>
        <p:spPr>
          <a:xfrm>
            <a:off x="1243734" y="1329512"/>
            <a:ext cx="5181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/>
              <a:t>Architecture Frameworks / Standards:</a:t>
            </a:r>
            <a:br>
              <a:rPr lang="en-US" sz="1800" b="1" u="sng" dirty="0"/>
            </a:br>
            <a:endParaRPr lang="en-US" sz="1800" b="1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Arc42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C4 Model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endParaRPr lang="en-US" b="1" dirty="0"/>
          </a:p>
          <a:p>
            <a:r>
              <a:rPr lang="en-US" sz="1800" b="1" u="sng" dirty="0" err="1"/>
              <a:t>AaC</a:t>
            </a:r>
            <a:r>
              <a:rPr lang="en-US" sz="1800" b="1" u="sng" dirty="0"/>
              <a:t> Tech Stack: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err="1"/>
              <a:t>StructurizrDSL</a:t>
            </a:r>
            <a:br>
              <a:rPr lang="en-US" b="1" dirty="0"/>
            </a:br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err="1"/>
              <a:t>ArchUnit</a:t>
            </a:r>
            <a:br>
              <a:rPr lang="en-US" b="1" dirty="0"/>
            </a:br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err="1"/>
              <a:t>Structurizr</a:t>
            </a:r>
            <a:r>
              <a:rPr lang="en-US" b="1" dirty="0"/>
              <a:t> Site </a:t>
            </a:r>
            <a:r>
              <a:rPr lang="en-US" b="1" dirty="0" err="1"/>
              <a:t>Generatr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Markdown</a:t>
            </a:r>
            <a:br>
              <a:rPr lang="en-US" dirty="0"/>
            </a:b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84811-F5AF-3A22-FBF4-7C10FCF7A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683652"/>
            <a:ext cx="6205683" cy="34906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E6DBA7-FA82-90C8-12CF-70332A77E0F8}"/>
              </a:ext>
            </a:extLst>
          </p:cNvPr>
          <p:cNvSpPr txBox="1"/>
          <p:nvPr/>
        </p:nvSpPr>
        <p:spPr>
          <a:xfrm>
            <a:off x="7310870" y="5422939"/>
            <a:ext cx="2776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https://c4model.com/diagrams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3108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85C5B179-43AB-A6E9-F61F-86C72AA4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5C15C90C-AAD4-5C8F-7F93-7F56B19D28ED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Benefits of Architecture-as-Code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351A6-15EE-5EBA-5A48-BF779BC5FE4D}"/>
              </a:ext>
            </a:extLst>
          </p:cNvPr>
          <p:cNvSpPr txBox="1"/>
          <p:nvPr/>
        </p:nvSpPr>
        <p:spPr>
          <a:xfrm>
            <a:off x="2179170" y="2183999"/>
            <a:ext cx="557876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Traceability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Automation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Consistency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Quality Control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67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BE0EB191-F3C5-99A1-C6B6-B5D82EE7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55CE346-D81E-B3C9-E227-1700CCD7D2DB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Cost / Trade-Offs of Architecture-as-Code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D37E1-A741-6515-766D-509B4DFE39E6}"/>
              </a:ext>
            </a:extLst>
          </p:cNvPr>
          <p:cNvSpPr txBox="1"/>
          <p:nvPr/>
        </p:nvSpPr>
        <p:spPr>
          <a:xfrm>
            <a:off x="2179170" y="2183999"/>
            <a:ext cx="55787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Learning Curve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Cultural Shift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Initial Overhead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U</a:t>
            </a:r>
            <a:r>
              <a:rPr lang="bg-BG" sz="1600" dirty="0" err="1"/>
              <a:t>pfront</a:t>
            </a:r>
            <a:r>
              <a:rPr lang="bg-BG" sz="1600" dirty="0"/>
              <a:t> </a:t>
            </a:r>
            <a:r>
              <a:rPr lang="bg-BG" sz="1600" dirty="0" err="1"/>
              <a:t>thinking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/>
              <a:t>Tooling Jungle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58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6E9B49D9-895C-F900-B7EB-18D8987B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F98543C4-4F63-F6A2-432D-44948D6E50BF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Key Takeaways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B7C37-7A7F-9308-D427-D2D639F7B952}"/>
              </a:ext>
            </a:extLst>
          </p:cNvPr>
          <p:cNvSpPr txBox="1"/>
          <p:nvPr/>
        </p:nvSpPr>
        <p:spPr>
          <a:xfrm>
            <a:off x="1762126" y="2603099"/>
            <a:ext cx="84962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600" dirty="0"/>
            </a:br>
            <a:r>
              <a:rPr lang="en-US" sz="1600" dirty="0"/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no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longer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static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it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iterative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measurable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versioned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Architecture-as-Code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connects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design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validation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deployment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bg-BG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documentation</a:t>
            </a: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2600A-8A80-D458-D0CB-17FD3229F6EF}"/>
              </a:ext>
            </a:extLst>
          </p:cNvPr>
          <p:cNvSpPr txBox="1"/>
          <p:nvPr/>
        </p:nvSpPr>
        <p:spPr>
          <a:xfrm>
            <a:off x="1762126" y="1979712"/>
            <a:ext cx="78771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Architecture becomes powerful when it is executable — not just readable.</a:t>
            </a:r>
            <a:endParaRPr lang="bg-BG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9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7CA617BA-C470-01AF-063C-FEABDEE4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6F56FAA3-7012-EEB7-8F36-E612EF0C53B1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What to do next?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E1035-23D8-F2FC-BA05-8B95C391E43F}"/>
              </a:ext>
            </a:extLst>
          </p:cNvPr>
          <p:cNvSpPr txBox="1"/>
          <p:nvPr/>
        </p:nvSpPr>
        <p:spPr>
          <a:xfrm>
            <a:off x="1695451" y="2031599"/>
            <a:ext cx="84962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600" dirty="0"/>
            </a:br>
            <a:r>
              <a:rPr lang="en-US" sz="1600" dirty="0"/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Start small</a:t>
            </a:r>
            <a:r>
              <a:rPr lang="bg-BG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Do</a:t>
            </a:r>
            <a:r>
              <a:rPr 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not</a:t>
            </a:r>
            <a:r>
              <a:rPr 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start</a:t>
            </a:r>
            <a:r>
              <a:rPr 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with</a:t>
            </a:r>
            <a:r>
              <a:rPr 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everything</a:t>
            </a:r>
            <a:b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Create an architectural model with some tool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Try some diagram-as-code tool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Try some ADR tool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99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F759909C-CB78-96E8-6A4D-9A35B8C8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1EBA70C0-FE87-7BBF-90DE-5D2208DCB0B1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Closing Thought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95B4A-8C63-7A49-9595-CD2257A1A195}"/>
              </a:ext>
            </a:extLst>
          </p:cNvPr>
          <p:cNvSpPr txBox="1"/>
          <p:nvPr/>
        </p:nvSpPr>
        <p:spPr>
          <a:xfrm>
            <a:off x="2600758" y="2951262"/>
            <a:ext cx="7877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Architecture is a system of decisions.</a:t>
            </a:r>
          </a:p>
          <a:p>
            <a:r>
              <a:rPr lang="en-US" sz="1800" b="1" dirty="0">
                <a:solidFill>
                  <a:schemeClr val="accent1"/>
                </a:solidFill>
              </a:rPr>
              <a:t>Code lets those decisions live, evolve, and improve.</a:t>
            </a:r>
            <a:endParaRPr lang="bg-BG" sz="1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64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dd5d6240d7_0_47"/>
          <p:cNvSpPr txBox="1"/>
          <p:nvPr/>
        </p:nvSpPr>
        <p:spPr>
          <a:xfrm>
            <a:off x="1030908" y="2335191"/>
            <a:ext cx="15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rPr>
              <a:t>Contacts:</a:t>
            </a:r>
            <a:endParaRPr sz="1800" b="1" i="0" u="none" strike="noStrike" cap="none">
              <a:solidFill>
                <a:srgbClr val="69F1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1" name="Google Shape;331;g2dd5d6240d7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6144" y="3444596"/>
            <a:ext cx="2667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2dd5d6240d7_0_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194" y="297083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2dd5d6240d7_0_47"/>
          <p:cNvSpPr txBox="1"/>
          <p:nvPr/>
        </p:nvSpPr>
        <p:spPr>
          <a:xfrm>
            <a:off x="1591592" y="2970836"/>
            <a:ext cx="3596228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20000"/>
              </a:lnSpc>
              <a:buSzPts val="1200"/>
            </a:pPr>
            <a:r>
              <a:rPr lang="en-US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https://www.linkedin.com/in/tsvetanv/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g2dd5d6240d7_0_47"/>
          <p:cNvSpPr txBox="1"/>
          <p:nvPr/>
        </p:nvSpPr>
        <p:spPr>
          <a:xfrm>
            <a:off x="1591592" y="3436865"/>
            <a:ext cx="3185681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20000"/>
              </a:lnSpc>
              <a:buSzPts val="1200"/>
            </a:pPr>
            <a:r>
              <a:rPr lang="en-US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https://github.com/tsvetanv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g2dd5d6240d7_0_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678934C9-E614-89C8-3609-D9E9E07A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1">
            <a:extLst>
              <a:ext uri="{FF2B5EF4-FFF2-40B4-BE49-F238E27FC236}">
                <a16:creationId xmlns:a16="http://schemas.microsoft.com/office/drawing/2014/main" id="{9CA23952-C452-F57F-8CB1-C7A97A1A48CC}"/>
              </a:ext>
            </a:extLst>
          </p:cNvPr>
          <p:cNvSpPr txBox="1">
            <a:spLocks/>
          </p:cNvSpPr>
          <p:nvPr/>
        </p:nvSpPr>
        <p:spPr>
          <a:xfrm>
            <a:off x="1348509" y="351389"/>
            <a:ext cx="10381673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4F4F4F"/>
              </a:buClr>
              <a:buSzPts val="4000"/>
            </a:pPr>
            <a:r>
              <a:rPr lang="en-US" sz="2500" b="1" dirty="0">
                <a:solidFill>
                  <a:schemeClr val="lt1"/>
                </a:solidFill>
                <a:latin typeface="Montserrat"/>
                <a:sym typeface="Montserrat"/>
              </a:rPr>
              <a:t>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67582-929C-3476-35C4-7442D76BCD72}"/>
              </a:ext>
            </a:extLst>
          </p:cNvPr>
          <p:cNvSpPr txBox="1"/>
          <p:nvPr/>
        </p:nvSpPr>
        <p:spPr>
          <a:xfrm>
            <a:off x="1695451" y="2031599"/>
            <a:ext cx="975359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AaC</a:t>
            </a:r>
            <a:r>
              <a:rPr lang="en-US" sz="1600" b="1" u="sng" dirty="0">
                <a:solidFill>
                  <a:schemeClr val="tx1"/>
                </a:solidFill>
                <a:latin typeface="Arial" panose="020B0604020202020204" pitchFamily="34" charset="0"/>
              </a:rPr>
              <a:t> resources:</a:t>
            </a:r>
          </a:p>
          <a:p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Simon Brown: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https://simonbrown.je/</a:t>
            </a:r>
            <a:b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Conference Paper “</a:t>
            </a:r>
            <a:r>
              <a:rPr lang="en-US" sz="1600" b="1" dirty="0"/>
              <a:t>Architecture as Code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”, Alessio </a:t>
            </a:r>
            <a:r>
              <a:rPr lang="en-US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Bucaioni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&amp; </a:t>
            </a:r>
            <a:r>
              <a:rPr lang="en-US" altLang="bg-BG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etc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sz="1600" dirty="0"/>
              <a:t>Conference: 2025 IEEE 22nd International Conference on Software Architecture (ICSA)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https://www.researchgate.net/publication/394538438_Architecture_as_Code</a:t>
            </a: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bg-BG" sz="1600" b="1" u="sng" dirty="0">
                <a:solidFill>
                  <a:schemeClr val="tx1"/>
                </a:solidFill>
                <a:latin typeface="Arial" panose="020B0604020202020204" pitchFamily="34" charset="0"/>
              </a:rPr>
              <a:t>Demo:</a:t>
            </a:r>
            <a:br>
              <a:rPr lang="en-US" altLang="bg-BG" sz="1600" b="1" u="sng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bg-BG" sz="1600" b="1" u="sng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Oreder System – Project Board: 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https://github.com/users/tsvetanv/projects/4</a:t>
            </a: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Order System – Architecture: 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https://github.com/tsvetanv/order-system-architecture</a:t>
            </a: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Order System – Services: 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https://github.com/tsvetanv/order-system-services</a:t>
            </a: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  <a:t>Order System – Infrastructure: </a:t>
            </a:r>
            <a: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https://github.com/tsvetanv/order-system-infrastructure</a:t>
            </a: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bg-BG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bg-BG" altLang="bg-BG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36527"/>
      </p:ext>
    </p:extLst>
  </p:cSld>
  <p:clrMapOvr>
    <a:masterClrMapping/>
  </p:clrMapOvr>
</p:sld>
</file>

<file path=ppt/theme/theme1.xml><?xml version="1.0" encoding="utf-8"?>
<a:theme xmlns:a="http://schemas.openxmlformats.org/drawingml/2006/main" name="test mast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1902</Words>
  <Application>Microsoft Office PowerPoint</Application>
  <PresentationFormat>Widescreen</PresentationFormat>
  <Paragraphs>347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Wingdings</vt:lpstr>
      <vt:lpstr>Montserrat</vt:lpstr>
      <vt:lpstr>Calibri</vt:lpstr>
      <vt:lpstr>Arial</vt:lpstr>
      <vt:lpstr>Verdana</vt:lpstr>
      <vt:lpstr>test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Tsvetan Vasilev</cp:lastModifiedBy>
  <cp:revision>47</cp:revision>
  <dcterms:created xsi:type="dcterms:W3CDTF">2021-04-20T07:02:23Z</dcterms:created>
  <dcterms:modified xsi:type="dcterms:W3CDTF">2026-01-21T07:29:04Z</dcterms:modified>
</cp:coreProperties>
</file>